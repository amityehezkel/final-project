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 Yehezkel" userId="d79ef48f-7858-46ee-97f3-48c54f7c691c" providerId="ADAL" clId="{31471A90-7CB0-492E-810E-9BA0BBA6DB99}"/>
    <pc:docChg chg="custSel modSld">
      <pc:chgData name="Amit Yehezkel" userId="d79ef48f-7858-46ee-97f3-48c54f7c691c" providerId="ADAL" clId="{31471A90-7CB0-492E-810E-9BA0BBA6DB99}" dt="2026-08-31T16:01:41.359" v="5" actId="12789"/>
      <pc:docMkLst>
        <pc:docMk/>
      </pc:docMkLst>
      <pc:sldChg chg="addSp delSp modSp mod">
        <pc:chgData name="Amit Yehezkel" userId="d79ef48f-7858-46ee-97f3-48c54f7c691c" providerId="ADAL" clId="{31471A90-7CB0-492E-810E-9BA0BBA6DB99}" dt="2026-08-31T16:01:41.359" v="5" actId="12789"/>
        <pc:sldMkLst>
          <pc:docMk/>
          <pc:sldMk cId="685495156" sldId="256"/>
        </pc:sldMkLst>
        <pc:spChg chg="del">
          <ac:chgData name="Amit Yehezkel" userId="d79ef48f-7858-46ee-97f3-48c54f7c691c" providerId="ADAL" clId="{31471A90-7CB0-492E-810E-9BA0BBA6DB99}" dt="2026-08-31T16:01:02.685" v="1" actId="478"/>
          <ac:spMkLst>
            <pc:docMk/>
            <pc:sldMk cId="685495156" sldId="256"/>
            <ac:spMk id="6" creationId="{5D89870F-BCEF-4A52-8174-AA3572B18E83}"/>
          </ac:spMkLst>
        </pc:spChg>
        <pc:picChg chg="add mod">
          <ac:chgData name="Amit Yehezkel" userId="d79ef48f-7858-46ee-97f3-48c54f7c691c" providerId="ADAL" clId="{31471A90-7CB0-492E-810E-9BA0BBA6DB99}" dt="2026-08-31T16:01:41.359" v="5" actId="12789"/>
          <ac:picMkLst>
            <pc:docMk/>
            <pc:sldMk cId="685495156" sldId="256"/>
            <ac:picMk id="9" creationId="{AF14018C-09DE-4089-620D-BE9AEA6CFDB5}"/>
          </ac:picMkLst>
        </pc:picChg>
        <pc:picChg chg="del">
          <ac:chgData name="Amit Yehezkel" userId="d79ef48f-7858-46ee-97f3-48c54f7c691c" providerId="ADAL" clId="{31471A90-7CB0-492E-810E-9BA0BBA6DB99}" dt="2026-08-31T16:01:00.578" v="0" actId="478"/>
          <ac:picMkLst>
            <pc:docMk/>
            <pc:sldMk cId="685495156" sldId="256"/>
            <ac:picMk id="16" creationId="{00000000-0000-0000-0000-000000000000}"/>
          </ac:picMkLst>
        </pc:pic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he-I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Development</c:v>
          </c:tx>
          <c:spPr>
            <a:solidFill>
              <a:srgbClr val="9BD5F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11827"/>
                    </a:solidFill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Dice</c:v>
              </c:pt>
              <c:pt idx="1">
                <c:v>IoU</c:v>
              </c:pt>
              <c:pt idx="2">
                <c:v>Precision</c:v>
              </c:pt>
              <c:pt idx="3">
                <c:v>Recall</c:v>
              </c:pt>
            </c:strLit>
          </c:cat>
          <c:val>
            <c:numLit>
              <c:formatCode>0.000</c:formatCode>
              <c:ptCount val="4"/>
              <c:pt idx="0">
                <c:v>0.76400000000000001</c:v>
              </c:pt>
              <c:pt idx="1">
                <c:v>0.61899999999999999</c:v>
              </c:pt>
              <c:pt idx="2">
                <c:v>1</c:v>
              </c:pt>
              <c:pt idx="3">
                <c:v>0.84199999999999997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883-4D31-8165-422DBCD689CF}"/>
            </c:ext>
          </c:extLst>
        </c:ser>
        <c:ser>
          <c:idx val="1"/>
          <c:order val="1"/>
          <c:tx>
            <c:v>Test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11827"/>
                    </a:solidFill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Dice</c:v>
              </c:pt>
              <c:pt idx="1">
                <c:v>IoU</c:v>
              </c:pt>
              <c:pt idx="2">
                <c:v>Precision</c:v>
              </c:pt>
              <c:pt idx="3">
                <c:v>Recall</c:v>
              </c:pt>
            </c:strLit>
          </c:cat>
          <c:val>
            <c:numLit>
              <c:formatCode>0.000</c:formatCode>
              <c:ptCount val="4"/>
              <c:pt idx="0">
                <c:v>0.752</c:v>
              </c:pt>
              <c:pt idx="1">
                <c:v>0.60299999999999998</c:v>
              </c:pt>
              <c:pt idx="2">
                <c:v>0.93</c:v>
              </c:pt>
              <c:pt idx="3">
                <c:v>0.71399999999999997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883-4D31-8165-422DBCD689C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827"/>
                </a:solidFill>
              </a:defRPr>
            </a:pPr>
            <a:endParaRPr lang="he-IL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1000000000000001"/>
          <c:min val="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F6B7A"/>
                </a:solidFill>
              </a:defRPr>
            </a:pPr>
            <a:endParaRPr lang="he-IL"/>
          </a:p>
        </c:txPr>
        <c:crossAx val="48650112"/>
        <c:crosses val="autoZero"/>
        <c:crossBetween val="between"/>
        <c:majorUnit val="0.2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5F6B7A"/>
              </a:solidFill>
            </a:defRPr>
          </a:pPr>
          <a:endParaRPr lang="he-IL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35–45 seconds.</a:t>
            </a:r>
          </a:p>
          <a:p>
            <a:r>
              <a:t>Open with the image, not the software. Blue is the axon, red is the outer fiber boundary, and yellow is the disrupted area we want to measure.</a:t>
            </a:r>
          </a:p>
          <a:p>
            <a:r>
              <a:t>Our project asks a simple question: when the sheath contains bright gaps, how much intact myelin is actually left?</a:t>
            </a:r>
          </a:p>
          <a:p>
            <a:endParaRPr/>
          </a:p>
          <a:p>
            <a:r>
              <a:t>[Sources]</a:t>
            </a:r>
          </a:p>
          <a:p>
            <a:r>
              <a:t>- Project benchmark overlay generated by this pipeline; source deck slide 1.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about 1 minute.</a:t>
            </a:r>
          </a:p>
          <a:p>
            <a:r>
              <a:t>The g-ratio is useful when myelin is compact. The problem appears when lamellae separate and pale gaps form inside the sheath.</a:t>
            </a:r>
          </a:p>
          <a:p>
            <a:r>
              <a:t>A boundary-only measure can then call the sheath thick even though part of that area is disruption rather than intact material.</a:t>
            </a:r>
          </a:p>
          <a:p>
            <a:r>
              <a:t>This is the scientific motivation for adding a vacuole-aware measurement.</a:t>
            </a:r>
          </a:p>
          <a:p>
            <a:endParaRPr/>
          </a:p>
          <a:p>
            <a:r>
              <a:t>[Sources]</a:t>
            </a:r>
          </a:p>
          <a:p>
            <a:r>
              <a:t>- Kaiser et al., MyelTracer, eNeuro 2021: https://doi.org/10.1523/ENEURO.0558-20.2021</a:t>
            </a:r>
          </a:p>
          <a:p>
            <a:r>
              <a:t>- Fischer et al., Science Advances 2024: https://doi.org/10.1126/sciadv.adl4573</a:t>
            </a:r>
          </a:p>
          <a:p>
            <a:r>
              <a:t>- Project benchmark overlay generated by this pipeline; source deck slide 2.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about 1 minute.</a:t>
            </a:r>
          </a:p>
          <a:p>
            <a:r>
              <a:t>We do not replace the existing measurement. We keep it and add a second view of the same fiber.</a:t>
            </a:r>
          </a:p>
          <a:p>
            <a:r>
              <a:t>The program first defines the gross sheath, detects disrupted regions inside it, and subtracts their area.</a:t>
            </a:r>
          </a:p>
          <a:p>
            <a:r>
              <a:t>The most useful outputs are total vacuole area, vacuole burden, and intact-myelin area. We removed vacuole count because one cleft can fragment into several image components.</a:t>
            </a:r>
          </a:p>
          <a:p>
            <a:endParaRPr/>
          </a:p>
          <a:p>
            <a:r>
              <a:t>[Sources]</a:t>
            </a:r>
          </a:p>
          <a:p>
            <a:r>
              <a:t>- Vacuole_Aware_Myelin_Final_Report.docx, Methods sections 3.3 and 3.6.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1–1¼ minutes.</a:t>
            </a:r>
          </a:p>
          <a:p>
            <a:r>
              <a:t>This is the part a normal user sees. They start one command and choose the situation that matches their data.</a:t>
            </a:r>
          </a:p>
          <a:p>
            <a:r>
              <a:t>For the reliable route, the program opens Napari and asks the user to mark the axon and the complete fiber boundary. It saves progress after each image.</a:t>
            </a:r>
          </a:p>
          <a:p>
            <a:r>
              <a:t>At the end, it automatically creates masks, colored overlays, a CSV report, and summary files. The same detector runs regardless of the entry path.</a:t>
            </a:r>
          </a:p>
          <a:p>
            <a:r>
              <a:t>The fully automatic whole-image path is available but is clearly labeled experimental.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project screenshot: codex-clipboard-117d1a51-f059-4aef-ad21-aa20b595d8b2.png.</a:t>
            </a:r>
          </a:p>
          <a:p>
            <a:r>
              <a:t>- Vacuole_Aware_Myelin_Final_Report.docx, Methods section 3.2 and Results section 4.5.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1–1¼ minutes.</a:t>
            </a:r>
          </a:p>
          <a:p>
            <a:r>
              <a:t>Keep the spoken explanation at the level shown on the slide. The detector is transparent rather than a black box.</a:t>
            </a:r>
          </a:p>
          <a:p>
            <a:r>
              <a:t>Technical detail if asked: intensities are normalized within each sheath; Otsu supplies a crop-specific baseline; strong seeds use Otsu + 0.20 and connected weaker pixels use Otsu + 0.10.</a:t>
            </a:r>
          </a:p>
          <a:p>
            <a:r>
              <a:t>Main components below 0.01 µm² are removed. Boundary growth is limited to 0.05 µm and 1.5 times the seed area. A selective rescue branch retains plausible thin clefts down to 0.0015 µm².</a:t>
            </a:r>
          </a:p>
          <a:p>
            <a:endParaRPr/>
          </a:p>
          <a:p>
            <a:r>
              <a:t>[Sources]</a:t>
            </a:r>
          </a:p>
          <a:p>
            <a:r>
              <a:t>- Vacuole_Aware_Myelin_Final_Report.docx, Methods sections 3.3–3.5.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about 50–60 seconds.</a:t>
            </a:r>
          </a:p>
          <a:p>
            <a:r>
              <a:t>Twenty fibers were used to choose settings and 23 were reserved for testing; two test fibers were excluded by a pre-existing quality-control rule.</a:t>
            </a:r>
          </a:p>
          <a:p>
            <a:r>
              <a:t>We split by source image to reduce the chance that nearly related crops appear on both sides.</a:t>
            </a:r>
          </a:p>
          <a:p>
            <a:r>
              <a:t>Be explicit about the limitation: the masks are student annotations, and this is a small course-project benchmark.</a:t>
            </a:r>
          </a:p>
          <a:p>
            <a:endParaRPr/>
          </a:p>
          <a:p>
            <a:r>
              <a:t>[Sources]</a:t>
            </a:r>
          </a:p>
          <a:p>
            <a:r>
              <a:t>- Vacuole_Aware_Myelin_Final_Report.docx, Methods sections 3.1 and 3.7.</a:t>
            </a:r>
          </a:p>
          <a:p>
            <a:r>
              <a:t>- work/benchmark/benchmark.csv, 43 labeled fibers.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1¼–1½ minutes.</a:t>
            </a:r>
          </a:p>
          <a:p>
            <a:r>
              <a:t>The chart shows development and test medians for four common overlap measures. Focus the audience on the three plain-language takeaways at right.</a:t>
            </a:r>
          </a:p>
          <a:p>
            <a:r>
              <a:t>Precision of 0.930 means that when the detector marks a pixel, it is usually supported by the annotation.</a:t>
            </a:r>
          </a:p>
          <a:p>
            <a:r>
              <a:t>Recall of 0.714 means it finds roughly seven tenths of the annotated vacuole area. Dice of 0.752 summarizes their overlap.</a:t>
            </a:r>
          </a:p>
          <a:p>
            <a:r>
              <a:t>The result is promising for a proof of concept, but it still underestimates some vacuoles.</a:t>
            </a:r>
          </a:p>
          <a:p>
            <a:endParaRPr/>
          </a:p>
          <a:p>
            <a:r>
              <a:t>[Sources]</a:t>
            </a:r>
          </a:p>
          <a:p>
            <a:r>
              <a:t>- Vacuole_Aware_Myelin_Final_Report.docx, Results section 4.1 and Discussion section 5.1.</a:t>
            </a:r>
          </a:p>
          <a:p>
            <a:r>
              <a:t>- work/best_model_results/evaluation_summary.json and generated evaluation chart in the source deck.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1–1¼ minutes.</a:t>
            </a:r>
          </a:p>
          <a:p>
            <a:r>
              <a:t>Each row compares the manual annotation, cropped mode, and whole-image route.</a:t>
            </a:r>
          </a:p>
          <a:p>
            <a:r>
              <a:t>The first example shows why the cropped result is useful: the main vacuole is localized well.</a:t>
            </a:r>
          </a:p>
          <a:p>
            <a:r>
              <a:t>The second shows the precision–recall trade-off. Thin lamellar clefts are hard to extend fully without also labeling normal sheath texture.</a:t>
            </a:r>
          </a:p>
          <a:p>
            <a:endParaRPr/>
          </a:p>
          <a:p>
            <a:r>
              <a:t>[Sources]</a:t>
            </a:r>
          </a:p>
          <a:p>
            <a:r>
              <a:t>- Project three-mode overlays: p1292_neo5_axon-01 and extra_p1265_neoview57_01.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1–1¼ minutes.</a:t>
            </a:r>
          </a:p>
          <a:p>
            <a:r>
              <a:t>The vacuole detector is the same in both modes. What changes is how the axon and outer boundary masks are obtained.</a:t>
            </a:r>
          </a:p>
          <a:p>
            <a:r>
              <a:t>In crop mode, a person supplies those masks, so the result mainly tests vacuole detection.</a:t>
            </a:r>
          </a:p>
          <a:p>
            <a:r>
              <a:t>In whole-image mode, AxonDeepSeg must first find and separate the fibers. Only 25 of 43 targets were recovered, and both masks passed the criterion for 15.</a:t>
            </a:r>
          </a:p>
          <a:p>
            <a:r>
              <a:t>Therefore the whole-image result is a front-end segmentation problem, not evidence that the crop detector suddenly changed.</a:t>
            </a:r>
          </a:p>
          <a:p>
            <a:endParaRPr/>
          </a:p>
          <a:p>
            <a:r>
              <a:t>[Sources]</a:t>
            </a:r>
          </a:p>
          <a:p>
            <a:r>
              <a:t>- Zaimi et al., AxonDeepSeg, Scientific Reports 2018: https://doi.org/10.1038/s41598-018-22181-4</a:t>
            </a:r>
          </a:p>
          <a:p>
            <a:r>
              <a:t>- Vacuole_Aware_Myelin_Final_Report.docx, Results section 4.3.</a:t>
            </a:r>
          </a:p>
          <a:p>
            <a:r>
              <a:t>- Project comparison panel: work/benchmark_three_mode_overlays/p126_neo1_axon-01/00_three_way_comparison.png.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about 1 minute, then questions.</a:t>
            </a:r>
          </a:p>
          <a:p>
            <a:r>
              <a:t>Close with the two-part conclusion: the cropped-mask workflow is a useful and interpretable proof of concept, while full whole-image automation is not ready.</a:t>
            </a:r>
          </a:p>
          <a:p>
            <a:r>
              <a:t>The next scientific step is expert, blinded labeling and a truly independent test set. The next engineering step is improving the automatic fiber-mask front end on local data.</a:t>
            </a:r>
          </a:p>
          <a:p>
            <a:r>
              <a:t>Pause on the final sentence, then invite questions.</a:t>
            </a:r>
          </a:p>
          <a:p>
            <a:endParaRPr/>
          </a:p>
          <a:p>
            <a:r>
              <a:t>[Sources]</a:t>
            </a:r>
          </a:p>
          <a:p>
            <a:r>
              <a:t>- Vacuole_Aware_Myelin_Final_Report.docx, Discussion and Conclusion sections.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>
            <a:extLst>
              <a:ext uri="{FF2B5EF4-FFF2-40B4-BE49-F238E27FC236}">
                <a16:creationId xmlns:a16="http://schemas.microsoft.com/office/drawing/2014/main" id="{55DA33A4-81DA-40CD-A613-E055D5CB3DF2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52768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405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VACUOLE-AWARE</a:t>
            </a:r>
          </a:p>
          <a:p>
            <a:pPr algn="l">
              <a:buNone/>
              <a:defRPr sz="405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MYELIN QUANTIFICATION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9635B71A-FD35-446A-9891-9734BB761ECF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49053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A practical way to measure disrupted myelin in electron-microscopy images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36E0953B-F4AC-44F2-8DA5-56E44B5CC8C4}"/>
              </a:ext>
            </a:extLst>
          </p:cNvPr>
          <p:cNvSpPr>
            <a:spLocks noGrp="1"/>
          </p:cNvSpPr>
          <p:nvPr/>
        </p:nvSpPr>
        <p:spPr>
          <a:xfrm>
            <a:off x="552450" y="4267200"/>
            <a:ext cx="1162050" cy="57150"/>
          </a:xfrm>
          <a:prstGeom prst="rect">
            <a:avLst/>
          </a:prstGeom>
          <a:solidFill>
            <a:srgbClr val="F2C94C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57A001CE-D823-4683-8054-B3F2F37CD0F1}"/>
              </a:ext>
            </a:extLst>
          </p:cNvPr>
          <p:cNvSpPr>
            <a:spLocks noGrp="1"/>
          </p:cNvSpPr>
          <p:nvPr/>
        </p:nvSpPr>
        <p:spPr>
          <a:xfrm>
            <a:off x="552450" y="45910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Noy Elyasi  ·  Roni Hagai  ·  Amit Yehezkel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69E366C8-9CCB-4B4E-87CF-C0B7AAAB9EEF}"/>
              </a:ext>
            </a:extLst>
          </p:cNvPr>
          <p:cNvSpPr>
            <a:spLocks noGrp="1"/>
          </p:cNvSpPr>
          <p:nvPr/>
        </p:nvSpPr>
        <p:spPr>
          <a:xfrm>
            <a:off x="552450" y="49911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Course project · final presentation · proof of concept</a:t>
            </a: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AF14018C-09DE-4089-620D-BE9AEA6CF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650" y="926306"/>
            <a:ext cx="4004310" cy="500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9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2-title">
            <a:extLst>
              <a:ext uri="{FF2B5EF4-FFF2-40B4-BE49-F238E27FC236}">
                <a16:creationId xmlns:a16="http://schemas.microsoft.com/office/drawing/2014/main" id="{85FA2316-4243-4464-B182-6A91F8D79FA0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 thicker outline can hide damaged myelin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15FBE623-9C83-453B-87A1-392D8B5BB3F0}"/>
              </a:ext>
            </a:extLst>
          </p:cNvPr>
          <p:cNvSpPr>
            <a:spLocks noGrp="1"/>
          </p:cNvSpPr>
          <p:nvPr/>
        </p:nvSpPr>
        <p:spPr>
          <a:xfrm>
            <a:off x="533400" y="1104900"/>
            <a:ext cx="10668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744AC361-C02A-47C6-BAB7-57371D7AA059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0397B7DB-D2B0-47DC-8B40-B0B5732239FC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11254606-214D-4DF3-8B55-3C11C4D007B7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4000500" cy="4476750"/>
          </a:xfrm>
          <a:prstGeom prst="roundRect">
            <a:avLst>
              <a:gd name="adj" fmla="val 2381"/>
            </a:avLst>
          </a:prstGeom>
          <a:solidFill>
            <a:srgbClr val="F4F6F9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21" name="תמונה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1466850"/>
            <a:ext cx="3581400" cy="4476750"/>
          </a:xfrm>
          <a:prstGeom prst="roundRect">
            <a:avLst>
              <a:gd name="adj" fmla="val 2381"/>
            </a:avLst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637429F1-7B3E-48AF-A4C9-B23126D5459D}"/>
              </a:ext>
            </a:extLst>
          </p:cNvPr>
          <p:cNvSpPr>
            <a:spLocks noGrp="1"/>
          </p:cNvSpPr>
          <p:nvPr/>
        </p:nvSpPr>
        <p:spPr>
          <a:xfrm>
            <a:off x="5048250" y="15621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Traditional measurement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54CCE4EC-0682-403E-B840-58C86B538289}"/>
              </a:ext>
            </a:extLst>
          </p:cNvPr>
          <p:cNvSpPr>
            <a:spLocks noGrp="1"/>
          </p:cNvSpPr>
          <p:nvPr/>
        </p:nvSpPr>
        <p:spPr>
          <a:xfrm>
            <a:off x="5048250" y="2000250"/>
            <a:ext cx="533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l">
              <a:buNone/>
              <a:defRPr sz="24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Compares the inner and outer fiber boundaries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1CBC9E84-2FA3-450D-B857-81FC2601D435}"/>
              </a:ext>
            </a:extLst>
          </p:cNvPr>
          <p:cNvSpPr>
            <a:spLocks noGrp="1"/>
          </p:cNvSpPr>
          <p:nvPr/>
        </p:nvSpPr>
        <p:spPr>
          <a:xfrm>
            <a:off x="5048250" y="2724150"/>
            <a:ext cx="6096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Everything inside the outer boundary contributes to the apparent sheath thickness.</a:t>
            </a: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BD268E8E-EAC5-4C6F-B8AB-675C02782D30}"/>
              </a:ext>
            </a:extLst>
          </p:cNvPr>
          <p:cNvSpPr>
            <a:spLocks noGrp="1"/>
          </p:cNvSpPr>
          <p:nvPr/>
        </p:nvSpPr>
        <p:spPr>
          <a:xfrm>
            <a:off x="5048250" y="3638550"/>
            <a:ext cx="6191250" cy="1657350"/>
          </a:xfrm>
          <a:prstGeom prst="roundRect">
            <a:avLst>
              <a:gd name="adj" fmla="val 6897"/>
            </a:avLst>
          </a:prstGeom>
          <a:solidFill>
            <a:srgbClr val="FFF4C7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A502239E-4711-423C-8C41-42DF5283DBA2}"/>
              </a:ext>
            </a:extLst>
          </p:cNvPr>
          <p:cNvSpPr>
            <a:spLocks noGrp="1"/>
          </p:cNvSpPr>
          <p:nvPr/>
        </p:nvSpPr>
        <p:spPr>
          <a:xfrm>
            <a:off x="5314950" y="390525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Why this can be misleading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BC96037C-B972-4176-9ACB-FF2A19C5195D}"/>
              </a:ext>
            </a:extLst>
          </p:cNvPr>
          <p:cNvSpPr>
            <a:spLocks noGrp="1"/>
          </p:cNvSpPr>
          <p:nvPr/>
        </p:nvSpPr>
        <p:spPr>
          <a:xfrm>
            <a:off x="5314950" y="4362450"/>
            <a:ext cx="552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Bright gaps expand the fiber outline without adding healthy, compact myelin.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CC225F5D-A8A5-4369-8420-E6D8A38ABA6E}"/>
              </a:ext>
            </a:extLst>
          </p:cNvPr>
          <p:cNvSpPr>
            <a:spLocks noGrp="1"/>
          </p:cNvSpPr>
          <p:nvPr/>
        </p:nvSpPr>
        <p:spPr>
          <a:xfrm>
            <a:off x="5314950" y="5029200"/>
            <a:ext cx="552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Our question: how much intact sheath remains?</a:t>
            </a:r>
          </a:p>
        </p:txBody>
      </p:sp>
    </p:spTree>
    <p:extLst>
      <p:ext uri="{BB962C8B-B14F-4D97-AF65-F5344CB8AC3E}">
        <p14:creationId xmlns:p14="http://schemas.microsoft.com/office/powerpoint/2010/main" val="397525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3-title">
            <a:extLst>
              <a:ext uri="{FF2B5EF4-FFF2-40B4-BE49-F238E27FC236}">
                <a16:creationId xmlns:a16="http://schemas.microsoft.com/office/drawing/2014/main" id="{A31634B1-E497-42F7-B10F-012E13CCDDBA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Our solution measures intact myelin separately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01564A00-F6F5-490F-9955-DC103C1FC17B}"/>
              </a:ext>
            </a:extLst>
          </p:cNvPr>
          <p:cNvSpPr>
            <a:spLocks noGrp="1"/>
          </p:cNvSpPr>
          <p:nvPr/>
        </p:nvSpPr>
        <p:spPr>
          <a:xfrm>
            <a:off x="533400" y="1104900"/>
            <a:ext cx="10668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2056F3D4-B29C-45F0-BC2E-878A4E55AE21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9F6070F9-D6FB-47E9-B5E3-655F78F57DA4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CFE852F1-792D-4964-8DA9-2942387C54F1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5238750" cy="400050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5FEFB508-FF09-44D6-B1AD-CAF8778F553C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1. Gross sheath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8D41BDC9-3E52-41D5-A005-401235679337}"/>
              </a:ext>
            </a:extLst>
          </p:cNvPr>
          <p:cNvSpPr>
            <a:spLocks noGrp="1"/>
          </p:cNvSpPr>
          <p:nvPr/>
        </p:nvSpPr>
        <p:spPr>
          <a:xfrm>
            <a:off x="838200" y="2247900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8627"/>
          </a:bodyPr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Everything between the outer boundary and the axon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A0C15C8A-3783-471D-92FF-C3E466F4BBEA}"/>
              </a:ext>
            </a:extLst>
          </p:cNvPr>
          <p:cNvSpPr>
            <a:spLocks noGrp="1"/>
          </p:cNvSpPr>
          <p:nvPr/>
        </p:nvSpPr>
        <p:spPr>
          <a:xfrm>
            <a:off x="838200" y="2990850"/>
            <a:ext cx="43243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7289D1BA-4C44-4C69-8F4F-4E62A0CA71D7}"/>
              </a:ext>
            </a:extLst>
          </p:cNvPr>
          <p:cNvSpPr>
            <a:spLocks noGrp="1"/>
          </p:cNvSpPr>
          <p:nvPr/>
        </p:nvSpPr>
        <p:spPr>
          <a:xfrm>
            <a:off x="838200" y="33147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2. Intact myelin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078CD095-0161-4545-BDAC-891BBDB458B1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428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5269"/>
          </a:bodyPr>
          <a:lstStyle/>
          <a:p>
            <a:pPr algn="l">
              <a:buNone/>
              <a:defRPr sz="23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Gross sheath minus the detected bright gaps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25E0334C-BE62-4389-B1B7-10F0146CE3A3}"/>
              </a:ext>
            </a:extLst>
          </p:cNvPr>
          <p:cNvSpPr>
            <a:spLocks noGrp="1"/>
          </p:cNvSpPr>
          <p:nvPr/>
        </p:nvSpPr>
        <p:spPr>
          <a:xfrm>
            <a:off x="838200" y="46482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3. Vacuole burden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59DA1543-9002-4392-BCB0-B035DBA3D42C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Vacuole area ÷ gross-sheath area</a:t>
            </a: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7F937CBF-9B60-4CFE-AC46-96D032B03361}"/>
              </a:ext>
            </a:extLst>
          </p:cNvPr>
          <p:cNvSpPr>
            <a:spLocks noGrp="1"/>
          </p:cNvSpPr>
          <p:nvPr/>
        </p:nvSpPr>
        <p:spPr>
          <a:xfrm>
            <a:off x="6343650" y="1752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2B5E9C33-D4B0-4337-9270-3F059FBA961E}"/>
              </a:ext>
            </a:extLst>
          </p:cNvPr>
          <p:cNvSpPr>
            <a:spLocks noGrp="1"/>
          </p:cNvSpPr>
          <p:nvPr/>
        </p:nvSpPr>
        <p:spPr>
          <a:xfrm>
            <a:off x="6572250" y="16764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Questions the output can answer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EBA53712-0FC6-4003-A534-20E82F902CC1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How much disruption is present, and how much apparently intact myelin remains?</a:t>
            </a:r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4C1BF099-7709-4DF0-B404-8FE53482D200}"/>
              </a:ext>
            </a:extLst>
          </p:cNvPr>
          <p:cNvSpPr>
            <a:spLocks noGrp="1"/>
          </p:cNvSpPr>
          <p:nvPr/>
        </p:nvSpPr>
        <p:spPr>
          <a:xfrm>
            <a:off x="6343650" y="31051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E872AE9F-53C0-4DB6-827D-3867516C440B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Reports both perspectives</a:t>
            </a: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CAE8F098-639E-40F5-AD38-DCD1FC351E45}"/>
              </a:ext>
            </a:extLst>
          </p:cNvPr>
          <p:cNvSpPr>
            <a:spLocks noGrp="1"/>
          </p:cNvSpPr>
          <p:nvPr/>
        </p:nvSpPr>
        <p:spPr>
          <a:xfrm>
            <a:off x="6572250" y="335280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The conventional g-ratio is retained alongside vacuole-aware area measurements.</a:t>
            </a:r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3FBA6408-A905-4FEB-9632-1CB059BC80A2}"/>
              </a:ext>
            </a:extLst>
          </p:cNvPr>
          <p:cNvSpPr>
            <a:spLocks noGrp="1"/>
          </p:cNvSpPr>
          <p:nvPr/>
        </p:nvSpPr>
        <p:spPr>
          <a:xfrm>
            <a:off x="6343650" y="4457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4D78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11339D8A-EBA5-4C25-9F17-3F6BE022BC43}"/>
              </a:ext>
            </a:extLst>
          </p:cNvPr>
          <p:cNvSpPr>
            <a:spLocks noGrp="1"/>
          </p:cNvSpPr>
          <p:nvPr/>
        </p:nvSpPr>
        <p:spPr>
          <a:xfrm>
            <a:off x="6572250" y="43815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Important caution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5148728D-2D7E-4EBA-9A34-D199F848165B}"/>
              </a:ext>
            </a:extLst>
          </p:cNvPr>
          <p:cNvSpPr>
            <a:spLocks noGrp="1"/>
          </p:cNvSpPr>
          <p:nvPr/>
        </p:nvSpPr>
        <p:spPr>
          <a:xfrm>
            <a:off x="6572250" y="470535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The new measurements are project outputs and still require biological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1718486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2-title">
            <a:extLst>
              <a:ext uri="{FF2B5EF4-FFF2-40B4-BE49-F238E27FC236}">
                <a16:creationId xmlns:a16="http://schemas.microsoft.com/office/drawing/2014/main" id="{85FA2316-4243-4464-B182-6A91F8D79FA0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guided interface turns images into results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15FBE623-9C83-453B-87A1-392D8B5BB3F0}"/>
              </a:ext>
            </a:extLst>
          </p:cNvPr>
          <p:cNvSpPr>
            <a:spLocks noGrp="1"/>
          </p:cNvSpPr>
          <p:nvPr/>
        </p:nvSpPr>
        <p:spPr>
          <a:xfrm>
            <a:off x="533400" y="1104900"/>
            <a:ext cx="10668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744AC361-C02A-47C6-BAB7-57371D7AA059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0397B7DB-D2B0-47DC-8B40-B0B5732239FC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11254606-214D-4DF3-8B55-3C11C4D007B7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4000500" cy="4476750"/>
          </a:xfrm>
          <a:prstGeom prst="roundRect">
            <a:avLst>
              <a:gd name="adj" fmla="val 2381"/>
            </a:avLst>
          </a:prstGeom>
          <a:solidFill>
            <a:srgbClr val="F4F6F9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637429F1-7B3E-48AF-A4C9-B23126D5459D}"/>
              </a:ext>
            </a:extLst>
          </p:cNvPr>
          <p:cNvSpPr>
            <a:spLocks noGrp="1"/>
          </p:cNvSpPr>
          <p:nvPr/>
        </p:nvSpPr>
        <p:spPr>
          <a:xfrm>
            <a:off x="5048250" y="15621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1. Choose a starting point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54CCE4EC-0682-403E-B840-58C86B538289}"/>
              </a:ext>
            </a:extLst>
          </p:cNvPr>
          <p:cNvSpPr>
            <a:spLocks noGrp="1"/>
          </p:cNvSpPr>
          <p:nvPr/>
        </p:nvSpPr>
        <p:spPr>
          <a:xfrm>
            <a:off x="5048250" y="2000250"/>
            <a:ext cx="533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l">
              <a:buNone/>
              <a:defRPr sz="24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Whole images, existing crops, or prepared masks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1CBC9E84-2FA3-450D-B857-81FC2601D435}"/>
              </a:ext>
            </a:extLst>
          </p:cNvPr>
          <p:cNvSpPr>
            <a:spLocks noGrp="1"/>
          </p:cNvSpPr>
          <p:nvPr/>
        </p:nvSpPr>
        <p:spPr>
          <a:xfrm>
            <a:off x="5048250" y="2724150"/>
            <a:ext cx="6096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One launcher asks only for the image paths and physical scale needed for that route.</a:t>
            </a: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BD268E8E-EAC5-4C6F-B8AB-675C02782D30}"/>
              </a:ext>
            </a:extLst>
          </p:cNvPr>
          <p:cNvSpPr>
            <a:spLocks noGrp="1"/>
          </p:cNvSpPr>
          <p:nvPr/>
        </p:nvSpPr>
        <p:spPr>
          <a:xfrm>
            <a:off x="5048250" y="3638550"/>
            <a:ext cx="6191250" cy="1657350"/>
          </a:xfrm>
          <a:prstGeom prst="roundRect">
            <a:avLst>
              <a:gd name="adj" fmla="val 6897"/>
            </a:avLst>
          </a:prstGeom>
          <a:solidFill>
            <a:srgbClr val="FFF4C7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A502239E-4711-423C-8C41-42DF5283DBA2}"/>
              </a:ext>
            </a:extLst>
          </p:cNvPr>
          <p:cNvSpPr>
            <a:spLocks noGrp="1"/>
          </p:cNvSpPr>
          <p:nvPr/>
        </p:nvSpPr>
        <p:spPr>
          <a:xfrm>
            <a:off x="5314950" y="390525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2. Follow the guided steps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BC96037C-B972-4176-9ACB-FF2A19C5195D}"/>
              </a:ext>
            </a:extLst>
          </p:cNvPr>
          <p:cNvSpPr>
            <a:spLocks noGrp="1"/>
          </p:cNvSpPr>
          <p:nvPr/>
        </p:nvSpPr>
        <p:spPr>
          <a:xfrm>
            <a:off x="5314950" y="4362450"/>
            <a:ext cx="552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Napari opens each image in sequence for crop selection and two simple masks. Progress is saved.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CC225F5D-A8A5-4369-8420-E6D8A38ABA6E}"/>
              </a:ext>
            </a:extLst>
          </p:cNvPr>
          <p:cNvSpPr>
            <a:spLocks noGrp="1"/>
          </p:cNvSpPr>
          <p:nvPr/>
        </p:nvSpPr>
        <p:spPr>
          <a:xfrm>
            <a:off x="5314950" y="5029200"/>
            <a:ext cx="552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3. Review the overlay and exported measurements</a:t>
            </a:r>
          </a:p>
        </p:txBody>
      </p:sp>
      <p:pic>
        <p:nvPicPr>
          <p:cNvPr id="28" name="תמונה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1466850"/>
            <a:ext cx="3581400" cy="44767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97525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-5-title">
            <a:extLst>
              <a:ext uri="{FF2B5EF4-FFF2-40B4-BE49-F238E27FC236}">
                <a16:creationId xmlns:a16="http://schemas.microsoft.com/office/drawing/2014/main" id="{7BD2F278-9D35-489E-BB51-4422B15C6668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detector follows the same five steps for every fiber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419D5B1B-D96A-4A5C-B060-5AF7C934AEC1}"/>
              </a:ext>
            </a:extLst>
          </p:cNvPr>
          <p:cNvSpPr>
            <a:spLocks noGrp="1"/>
          </p:cNvSpPr>
          <p:nvPr/>
        </p:nvSpPr>
        <p:spPr>
          <a:xfrm>
            <a:off x="533400" y="1104900"/>
            <a:ext cx="10668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52ACC79C-F2D9-4C2D-8F7F-032DDEE15134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F6858D9B-5B82-4A8F-86D5-1AD2DB4E5BA2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55FB15E9-8819-436E-90C9-66B99817CC2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981200" cy="3390900"/>
          </a:xfrm>
          <a:prstGeom prst="roundRect">
            <a:avLst>
              <a:gd name="adj" fmla="val 5769"/>
            </a:avLst>
          </a:prstGeom>
          <a:solidFill>
            <a:srgbClr val="F4F6F9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179E1A85-A5F9-4DEE-A9EB-BB6E2F2E82AA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50F679FA-376C-4DE4-8278-3BDEBCDC350D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9160DBCC-DD76-47F4-938B-2CE5400B62A4}"/>
              </a:ext>
            </a:extLst>
          </p:cNvPr>
          <p:cNvSpPr>
            <a:spLocks noGrp="1"/>
          </p:cNvSpPr>
          <p:nvPr/>
        </p:nvSpPr>
        <p:spPr>
          <a:xfrm>
            <a:off x="704850" y="2628900"/>
            <a:ext cx="163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Focus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ADA2803E-38B6-422B-BE57-0B24AAD31B83}"/>
              </a:ext>
            </a:extLst>
          </p:cNvPr>
          <p:cNvSpPr>
            <a:spLocks noGrp="1"/>
          </p:cNvSpPr>
          <p:nvPr/>
        </p:nvSpPr>
        <p:spPr>
          <a:xfrm>
            <a:off x="704850" y="3105150"/>
            <a:ext cx="16383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Look only inside the myelin sheath and balance local brightness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1A6DEB0E-E6A6-4462-900B-3DEC5BBB871D}"/>
              </a:ext>
            </a:extLst>
          </p:cNvPr>
          <p:cNvSpPr>
            <a:spLocks noGrp="1"/>
          </p:cNvSpPr>
          <p:nvPr/>
        </p:nvSpPr>
        <p:spPr>
          <a:xfrm>
            <a:off x="2514600" y="3105150"/>
            <a:ext cx="30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ED4E57C1-2767-4A25-ACAC-E32E1CC08E63}"/>
              </a:ext>
            </a:extLst>
          </p:cNvPr>
          <p:cNvSpPr>
            <a:spLocks noGrp="1"/>
          </p:cNvSpPr>
          <p:nvPr/>
        </p:nvSpPr>
        <p:spPr>
          <a:xfrm>
            <a:off x="2819400" y="1752600"/>
            <a:ext cx="1981200" cy="3390900"/>
          </a:xfrm>
          <a:prstGeom prst="roundRect">
            <a:avLst>
              <a:gd name="adj" fmla="val 5769"/>
            </a:avLst>
          </a:prstGeom>
          <a:solidFill>
            <a:srgbClr val="F4F6F9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E188C322-FCDC-4BF0-B714-7857C1349199}"/>
              </a:ext>
            </a:extLst>
          </p:cNvPr>
          <p:cNvSpPr>
            <a:spLocks noGrp="1"/>
          </p:cNvSpPr>
          <p:nvPr/>
        </p:nvSpPr>
        <p:spPr>
          <a:xfrm>
            <a:off x="2990850" y="19431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F7C6BFCE-D112-451E-AD69-8E7F7105C879}"/>
              </a:ext>
            </a:extLst>
          </p:cNvPr>
          <p:cNvSpPr>
            <a:spLocks noGrp="1"/>
          </p:cNvSpPr>
          <p:nvPr/>
        </p:nvSpPr>
        <p:spPr>
          <a:xfrm>
            <a:off x="2990850" y="200025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798C7D9F-D1CE-48DB-8460-DD1F007DBA6C}"/>
              </a:ext>
            </a:extLst>
          </p:cNvPr>
          <p:cNvSpPr>
            <a:spLocks noGrp="1"/>
          </p:cNvSpPr>
          <p:nvPr/>
        </p:nvSpPr>
        <p:spPr>
          <a:xfrm>
            <a:off x="2990850" y="2628900"/>
            <a:ext cx="163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Propose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AE202C7B-78A4-42B0-8470-EC39D54441C7}"/>
              </a:ext>
            </a:extLst>
          </p:cNvPr>
          <p:cNvSpPr>
            <a:spLocks noGrp="1"/>
          </p:cNvSpPr>
          <p:nvPr/>
        </p:nvSpPr>
        <p:spPr>
          <a:xfrm>
            <a:off x="2990850" y="3105150"/>
            <a:ext cx="16383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Start from unusually bright regions that could represent internal gaps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67961343-0031-49A4-BD3C-F066BAC46B3E}"/>
              </a:ext>
            </a:extLst>
          </p:cNvPr>
          <p:cNvSpPr>
            <a:spLocks noGrp="1"/>
          </p:cNvSpPr>
          <p:nvPr/>
        </p:nvSpPr>
        <p:spPr>
          <a:xfrm>
            <a:off x="4800600" y="3105150"/>
            <a:ext cx="30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1C9A15DA-20DB-49DA-905A-7AA7A46C3822}"/>
              </a:ext>
            </a:extLst>
          </p:cNvPr>
          <p:cNvSpPr>
            <a:spLocks noGrp="1"/>
          </p:cNvSpPr>
          <p:nvPr/>
        </p:nvSpPr>
        <p:spPr>
          <a:xfrm>
            <a:off x="5105400" y="1752600"/>
            <a:ext cx="1981200" cy="3390900"/>
          </a:xfrm>
          <a:prstGeom prst="roundRect">
            <a:avLst>
              <a:gd name="adj" fmla="val 5769"/>
            </a:avLst>
          </a:prstGeom>
          <a:solidFill>
            <a:srgbClr val="F4F6F9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ED95BBF2-1F40-496B-AB8E-FBD837D2324C}"/>
              </a:ext>
            </a:extLst>
          </p:cNvPr>
          <p:cNvSpPr>
            <a:spLocks noGrp="1"/>
          </p:cNvSpPr>
          <p:nvPr/>
        </p:nvSpPr>
        <p:spPr>
          <a:xfrm>
            <a:off x="5276850" y="19431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295CB5D0-314F-44BC-B559-6F08EF7F3020}"/>
              </a:ext>
            </a:extLst>
          </p:cNvPr>
          <p:cNvSpPr>
            <a:spLocks noGrp="1"/>
          </p:cNvSpPr>
          <p:nvPr/>
        </p:nvSpPr>
        <p:spPr>
          <a:xfrm>
            <a:off x="5276850" y="200025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81F84666-0889-46D0-AA5C-E74A3F4CE85D}"/>
              </a:ext>
            </a:extLst>
          </p:cNvPr>
          <p:cNvSpPr>
            <a:spLocks noGrp="1"/>
          </p:cNvSpPr>
          <p:nvPr/>
        </p:nvSpPr>
        <p:spPr>
          <a:xfrm>
            <a:off x="5276850" y="2628900"/>
            <a:ext cx="163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25EE6A00-5FDC-41D1-80D3-DC5ADB65ABBB}"/>
              </a:ext>
            </a:extLst>
          </p:cNvPr>
          <p:cNvSpPr>
            <a:spLocks noGrp="1"/>
          </p:cNvSpPr>
          <p:nvPr/>
        </p:nvSpPr>
        <p:spPr>
          <a:xfrm>
            <a:off x="5276850" y="3105150"/>
            <a:ext cx="16383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Keep connected regions and remove isolated speckle or tiny artifacts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3FC69F8A-F01D-4C98-A81D-BBC3EA29B0C2}"/>
              </a:ext>
            </a:extLst>
          </p:cNvPr>
          <p:cNvSpPr>
            <a:spLocks noGrp="1"/>
          </p:cNvSpPr>
          <p:nvPr/>
        </p:nvSpPr>
        <p:spPr>
          <a:xfrm>
            <a:off x="7086600" y="3105150"/>
            <a:ext cx="30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מלבן: פינות מעוגלות 22">
            <a:extLst>
              <a:ext uri="{FF2B5EF4-FFF2-40B4-BE49-F238E27FC236}">
                <a16:creationId xmlns:a16="http://schemas.microsoft.com/office/drawing/2014/main" id="{5EB98E38-AEDB-4431-819F-76BADEEDC92A}"/>
              </a:ext>
            </a:extLst>
          </p:cNvPr>
          <p:cNvSpPr>
            <a:spLocks noGrp="1"/>
          </p:cNvSpPr>
          <p:nvPr/>
        </p:nvSpPr>
        <p:spPr>
          <a:xfrm>
            <a:off x="7391400" y="1752600"/>
            <a:ext cx="1981200" cy="3390900"/>
          </a:xfrm>
          <a:prstGeom prst="roundRect">
            <a:avLst>
              <a:gd name="adj" fmla="val 5769"/>
            </a:avLst>
          </a:prstGeom>
          <a:solidFill>
            <a:srgbClr val="F4F6F9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מלבן: פינות מעוגלות 23">
            <a:extLst>
              <a:ext uri="{FF2B5EF4-FFF2-40B4-BE49-F238E27FC236}">
                <a16:creationId xmlns:a16="http://schemas.microsoft.com/office/drawing/2014/main" id="{7F050A29-BDE0-461A-8DE6-5B668DD6C993}"/>
              </a:ext>
            </a:extLst>
          </p:cNvPr>
          <p:cNvSpPr>
            <a:spLocks noGrp="1"/>
          </p:cNvSpPr>
          <p:nvPr/>
        </p:nvSpPr>
        <p:spPr>
          <a:xfrm>
            <a:off x="7562850" y="19431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8FC6212C-D158-4E76-B775-5461FCEEAFDC}"/>
              </a:ext>
            </a:extLst>
          </p:cNvPr>
          <p:cNvSpPr>
            <a:spLocks noGrp="1"/>
          </p:cNvSpPr>
          <p:nvPr/>
        </p:nvSpPr>
        <p:spPr>
          <a:xfrm>
            <a:off x="7562850" y="200025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BCC3D02C-977D-40F1-9F71-5BE3A2379794}"/>
              </a:ext>
            </a:extLst>
          </p:cNvPr>
          <p:cNvSpPr>
            <a:spLocks noGrp="1"/>
          </p:cNvSpPr>
          <p:nvPr/>
        </p:nvSpPr>
        <p:spPr>
          <a:xfrm>
            <a:off x="7562850" y="2628900"/>
            <a:ext cx="163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Follow edges</a:t>
            </a:r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5BDD4EA4-E725-4877-BC80-B9476D3F72CB}"/>
              </a:ext>
            </a:extLst>
          </p:cNvPr>
          <p:cNvSpPr>
            <a:spLocks noGrp="1"/>
          </p:cNvSpPr>
          <p:nvPr/>
        </p:nvSpPr>
        <p:spPr>
          <a:xfrm>
            <a:off x="7562850" y="3105150"/>
            <a:ext cx="16383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Extend each detection toward its likely boundary—within strict limits</a:t>
            </a:r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EADD73FF-9348-453B-9F99-F4A840571EF8}"/>
              </a:ext>
            </a:extLst>
          </p:cNvPr>
          <p:cNvSpPr>
            <a:spLocks noGrp="1"/>
          </p:cNvSpPr>
          <p:nvPr/>
        </p:nvSpPr>
        <p:spPr>
          <a:xfrm>
            <a:off x="9372600" y="3105150"/>
            <a:ext cx="30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מלבן: פינות מעוגלות 28">
            <a:extLst>
              <a:ext uri="{FF2B5EF4-FFF2-40B4-BE49-F238E27FC236}">
                <a16:creationId xmlns:a16="http://schemas.microsoft.com/office/drawing/2014/main" id="{BE938C46-B217-45F8-90BD-CA8B04FF0935}"/>
              </a:ext>
            </a:extLst>
          </p:cNvPr>
          <p:cNvSpPr>
            <a:spLocks noGrp="1"/>
          </p:cNvSpPr>
          <p:nvPr/>
        </p:nvSpPr>
        <p:spPr>
          <a:xfrm>
            <a:off x="9677400" y="1752600"/>
            <a:ext cx="1981200" cy="3390900"/>
          </a:xfrm>
          <a:prstGeom prst="roundRect">
            <a:avLst>
              <a:gd name="adj" fmla="val 5769"/>
            </a:avLst>
          </a:prstGeom>
          <a:solidFill>
            <a:srgbClr val="FFF4C7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מלבן: פינות מעוגלות 29">
            <a:extLst>
              <a:ext uri="{FF2B5EF4-FFF2-40B4-BE49-F238E27FC236}">
                <a16:creationId xmlns:a16="http://schemas.microsoft.com/office/drawing/2014/main" id="{7FC71AC0-2255-417E-B026-697F2233A215}"/>
              </a:ext>
            </a:extLst>
          </p:cNvPr>
          <p:cNvSpPr>
            <a:spLocks noGrp="1"/>
          </p:cNvSpPr>
          <p:nvPr/>
        </p:nvSpPr>
        <p:spPr>
          <a:xfrm>
            <a:off x="9848850" y="19431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20D4F8C9-5556-4AC7-BE30-A71C9780FC96}"/>
              </a:ext>
            </a:extLst>
          </p:cNvPr>
          <p:cNvSpPr>
            <a:spLocks noGrp="1"/>
          </p:cNvSpPr>
          <p:nvPr/>
        </p:nvSpPr>
        <p:spPr>
          <a:xfrm>
            <a:off x="9848850" y="200025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69F2B583-832D-4EDF-BE6F-C0958A87C878}"/>
              </a:ext>
            </a:extLst>
          </p:cNvPr>
          <p:cNvSpPr>
            <a:spLocks noGrp="1"/>
          </p:cNvSpPr>
          <p:nvPr/>
        </p:nvSpPr>
        <p:spPr>
          <a:xfrm>
            <a:off x="9848850" y="2628900"/>
            <a:ext cx="163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528"/>
          </a:bodyPr>
          <a:lstStyle/>
          <a:p>
            <a:pPr algn="l">
              <a:buNone/>
              <a:defRPr sz="17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Recover thin gaps</a:t>
            </a:r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4AD070D1-696C-4DB4-AE75-D4214A0A7DBC}"/>
              </a:ext>
            </a:extLst>
          </p:cNvPr>
          <p:cNvSpPr>
            <a:spLocks noGrp="1"/>
          </p:cNvSpPr>
          <p:nvPr/>
        </p:nvSpPr>
        <p:spPr>
          <a:xfrm>
            <a:off x="9848850" y="3105150"/>
            <a:ext cx="16383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Accept thin clefts only when their size, shape, and location are plausible</a:t>
            </a:r>
          </a:p>
        </p:txBody>
      </p:sp>
      <p:sp>
        <p:nvSpPr>
          <p:cNvPr id="34" name="מלבן: פינות מעוגלות 33">
            <a:extLst>
              <a:ext uri="{FF2B5EF4-FFF2-40B4-BE49-F238E27FC236}">
                <a16:creationId xmlns:a16="http://schemas.microsoft.com/office/drawing/2014/main" id="{C0F1726A-C468-498A-81F5-7384A27B32C3}"/>
              </a:ext>
            </a:extLst>
          </p:cNvPr>
          <p:cNvSpPr>
            <a:spLocks noGrp="1"/>
          </p:cNvSpPr>
          <p:nvPr/>
        </p:nvSpPr>
        <p:spPr>
          <a:xfrm>
            <a:off x="1524000" y="5448300"/>
            <a:ext cx="9144000" cy="533400"/>
          </a:xfrm>
          <a:prstGeom prst="roundRect">
            <a:avLst>
              <a:gd name="adj" fmla="val 17857"/>
            </a:avLst>
          </a:prstGeom>
          <a:solidFill>
            <a:srgbClr val="DCEE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D6A6F543-343B-472E-AF61-D5E150116DDA}"/>
              </a:ext>
            </a:extLst>
          </p:cNvPr>
          <p:cNvSpPr>
            <a:spLocks noGrp="1"/>
          </p:cNvSpPr>
          <p:nvPr/>
        </p:nvSpPr>
        <p:spPr>
          <a:xfrm>
            <a:off x="1752600" y="5591175"/>
            <a:ext cx="868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Every decision is scale-aware, restricted to the sheath, and visible in the exported overlay</a:t>
            </a:r>
          </a:p>
        </p:txBody>
      </p:sp>
    </p:spTree>
    <p:extLst>
      <p:ext uri="{BB962C8B-B14F-4D97-AF65-F5344CB8AC3E}">
        <p14:creationId xmlns:p14="http://schemas.microsoft.com/office/powerpoint/2010/main" val="109736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6-title">
            <a:extLst>
              <a:ext uri="{FF2B5EF4-FFF2-40B4-BE49-F238E27FC236}">
                <a16:creationId xmlns:a16="http://schemas.microsoft.com/office/drawing/2014/main" id="{AEAF0AEF-19A4-4FD3-895F-19EB1B7B7418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We tested the method on 43 manually labeled fibers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2134D8FC-6E3B-4C59-A72D-FF704A17411B}"/>
              </a:ext>
            </a:extLst>
          </p:cNvPr>
          <p:cNvSpPr>
            <a:spLocks noGrp="1"/>
          </p:cNvSpPr>
          <p:nvPr/>
        </p:nvSpPr>
        <p:spPr>
          <a:xfrm>
            <a:off x="533400" y="1104900"/>
            <a:ext cx="10668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D338B922-E3CC-44D2-B742-94B2D16BF2BA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39161115-3D70-40EE-872F-BB37E937BCB9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904428F2-A3D4-4FFD-B2D3-30C165243EEF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3333750" cy="171450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64D5DDAB-AE60-4DA9-B01F-A07700C56BF3}"/>
              </a:ext>
            </a:extLst>
          </p:cNvPr>
          <p:cNvSpPr>
            <a:spLocks noGrp="1"/>
          </p:cNvSpPr>
          <p:nvPr/>
        </p:nvSpPr>
        <p:spPr>
          <a:xfrm>
            <a:off x="781050" y="1866900"/>
            <a:ext cx="2838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90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EE37B31C-49C5-4A35-BE89-F75C12542FDB}"/>
              </a:ext>
            </a:extLst>
          </p:cNvPr>
          <p:cNvSpPr>
            <a:spLocks noGrp="1"/>
          </p:cNvSpPr>
          <p:nvPr/>
        </p:nvSpPr>
        <p:spPr>
          <a:xfrm>
            <a:off x="781050" y="2724150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manually labeled fibers</a:t>
            </a: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C702E205-EFA4-4461-ABB8-911DA06EA7A2}"/>
              </a:ext>
            </a:extLst>
          </p:cNvPr>
          <p:cNvSpPr>
            <a:spLocks noGrp="1"/>
          </p:cNvSpPr>
          <p:nvPr/>
        </p:nvSpPr>
        <p:spPr>
          <a:xfrm>
            <a:off x="4248150" y="1581150"/>
            <a:ext cx="3333750" cy="171450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119430EB-B99D-4417-8F65-889219B39FDC}"/>
              </a:ext>
            </a:extLst>
          </p:cNvPr>
          <p:cNvSpPr>
            <a:spLocks noGrp="1"/>
          </p:cNvSpPr>
          <p:nvPr/>
        </p:nvSpPr>
        <p:spPr>
          <a:xfrm>
            <a:off x="4495800" y="1866900"/>
            <a:ext cx="2838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1E6B58C3-E6C6-4134-9ABE-6B2F59CB9F0E}"/>
              </a:ext>
            </a:extLst>
          </p:cNvPr>
          <p:cNvSpPr>
            <a:spLocks noGrp="1"/>
          </p:cNvSpPr>
          <p:nvPr/>
        </p:nvSpPr>
        <p:spPr>
          <a:xfrm>
            <a:off x="4495800" y="2724150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used to choose settings</a:t>
            </a: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33205CB8-F715-422F-BFB9-8CF3AC2A39E2}"/>
              </a:ext>
            </a:extLst>
          </p:cNvPr>
          <p:cNvSpPr>
            <a:spLocks noGrp="1"/>
          </p:cNvSpPr>
          <p:nvPr/>
        </p:nvSpPr>
        <p:spPr>
          <a:xfrm>
            <a:off x="7962900" y="1581150"/>
            <a:ext cx="3333750" cy="171450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6AE05A74-B5B3-44ED-BDA7-80C5834A2827}"/>
              </a:ext>
            </a:extLst>
          </p:cNvPr>
          <p:cNvSpPr>
            <a:spLocks noGrp="1"/>
          </p:cNvSpPr>
          <p:nvPr/>
        </p:nvSpPr>
        <p:spPr>
          <a:xfrm>
            <a:off x="8210550" y="1866900"/>
            <a:ext cx="2838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B33AD1AF-6107-4AA2-9613-696D7C495AA5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test fibers (21 eligible)</a:t>
            </a:r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3AE387F4-7A55-4425-9DCF-5DFDA4CB8FB9}"/>
              </a:ext>
            </a:extLst>
          </p:cNvPr>
          <p:cNvSpPr>
            <a:spLocks noGrp="1"/>
          </p:cNvSpPr>
          <p:nvPr/>
        </p:nvSpPr>
        <p:spPr>
          <a:xfrm>
            <a:off x="762000" y="38671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1BA1D8C1-E570-4EDC-8FCA-3C78C90A25BA}"/>
              </a:ext>
            </a:extLst>
          </p:cNvPr>
          <p:cNvSpPr>
            <a:spLocks noGrp="1"/>
          </p:cNvSpPr>
          <p:nvPr/>
        </p:nvSpPr>
        <p:spPr>
          <a:xfrm>
            <a:off x="990600" y="3790950"/>
            <a:ext cx="472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How settings were chosen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9C2358E3-6019-4365-89E6-31302A6713CB}"/>
              </a:ext>
            </a:extLst>
          </p:cNvPr>
          <p:cNvSpPr>
            <a:spLocks noGrp="1"/>
          </p:cNvSpPr>
          <p:nvPr/>
        </p:nvSpPr>
        <p:spPr>
          <a:xfrm>
            <a:off x="990600" y="4114800"/>
            <a:ext cx="4724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Only the development fibers were used to select detector settings.</a:t>
            </a:r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C8ABDEC6-823E-4D6B-86A8-D45FD335773B}"/>
              </a:ext>
            </a:extLst>
          </p:cNvPr>
          <p:cNvSpPr>
            <a:spLocks noGrp="1"/>
          </p:cNvSpPr>
          <p:nvPr/>
        </p:nvSpPr>
        <p:spPr>
          <a:xfrm>
            <a:off x="6191250" y="38671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4D78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04F93A26-764B-48BB-8F27-4884FD1C2CC6}"/>
              </a:ext>
            </a:extLst>
          </p:cNvPr>
          <p:cNvSpPr>
            <a:spLocks noGrp="1"/>
          </p:cNvSpPr>
          <p:nvPr/>
        </p:nvSpPr>
        <p:spPr>
          <a:xfrm>
            <a:off x="6419850" y="3790950"/>
            <a:ext cx="472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How related images were separated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66F0C31D-0E6A-4FC6-9468-4DB252AD8554}"/>
              </a:ext>
            </a:extLst>
          </p:cNvPr>
          <p:cNvSpPr>
            <a:spLocks noGrp="1"/>
          </p:cNvSpPr>
          <p:nvPr/>
        </p:nvSpPr>
        <p:spPr>
          <a:xfrm>
            <a:off x="6419850" y="4114800"/>
            <a:ext cx="4724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Crops from the same source image stayed together instead of being split randomly.</a:t>
            </a:r>
          </a:p>
        </p:txBody>
      </p:sp>
      <p:sp>
        <p:nvSpPr>
          <p:cNvPr id="20" name="מלבן: פינות מעוגלות 19">
            <a:extLst>
              <a:ext uri="{FF2B5EF4-FFF2-40B4-BE49-F238E27FC236}">
                <a16:creationId xmlns:a16="http://schemas.microsoft.com/office/drawing/2014/main" id="{3AA7FB3F-0D3D-4987-AAC3-5218095DE849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10382250" cy="857250"/>
          </a:xfrm>
          <a:prstGeom prst="roundRect">
            <a:avLst>
              <a:gd name="adj" fmla="val 11111"/>
            </a:avLst>
          </a:prstGeom>
          <a:solidFill>
            <a:srgbClr val="FFF4C7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4EF551B6-3D4E-4435-88A4-F5B453407DC5}"/>
              </a:ext>
            </a:extLst>
          </p:cNvPr>
          <p:cNvSpPr>
            <a:spLocks noGrp="1"/>
          </p:cNvSpPr>
          <p:nvPr/>
        </p:nvSpPr>
        <p:spPr>
          <a:xfrm>
            <a:off x="990600" y="52197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Caveat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42E85B7F-1923-44BD-B905-6029830BC3CE}"/>
              </a:ext>
            </a:extLst>
          </p:cNvPr>
          <p:cNvSpPr>
            <a:spLocks noGrp="1"/>
          </p:cNvSpPr>
          <p:nvPr/>
        </p:nvSpPr>
        <p:spPr>
          <a:xfrm>
            <a:off x="1981200" y="5162550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Student annotations and a small dataset: these results support a proof of concept, not clinical or independent biological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1311861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7-title">
            <a:extLst>
              <a:ext uri="{FF2B5EF4-FFF2-40B4-BE49-F238E27FC236}">
                <a16:creationId xmlns:a16="http://schemas.microsoft.com/office/drawing/2014/main" id="{6C2F4113-90B0-4B88-BD13-5AA2CF15FB87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With supplied masks, predictions are precise but incomplete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1BD95FA6-2AB2-43F2-A34A-75B05839CF58}"/>
              </a:ext>
            </a:extLst>
          </p:cNvPr>
          <p:cNvSpPr>
            <a:spLocks noGrp="1"/>
          </p:cNvSpPr>
          <p:nvPr/>
        </p:nvSpPr>
        <p:spPr>
          <a:xfrm>
            <a:off x="533400" y="1104900"/>
            <a:ext cx="10668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87E3B6BB-1304-45A9-9D33-EACA8C4B25D6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4BA6CF37-782A-4340-90AE-528D205A4E37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="533400" y="1466850"/>
          <a:ext cx="676275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2243694D-0103-455B-ACF8-A0E27A039C24}"/>
              </a:ext>
            </a:extLst>
          </p:cNvPr>
          <p:cNvSpPr>
            <a:spLocks noGrp="1"/>
          </p:cNvSpPr>
          <p:nvPr/>
        </p:nvSpPr>
        <p:spPr>
          <a:xfrm>
            <a:off x="7753350" y="1581150"/>
            <a:ext cx="3829050" cy="1276350"/>
          </a:xfrm>
          <a:prstGeom prst="roundRect">
            <a:avLst>
              <a:gd name="adj" fmla="val 7463"/>
            </a:avLst>
          </a:prstGeom>
          <a:solidFill>
            <a:srgbClr val="F4F6F9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03C57F8B-AD81-4B09-B570-B3EC4F488E53}"/>
              </a:ext>
            </a:extLst>
          </p:cNvPr>
          <p:cNvSpPr>
            <a:spLocks noGrp="1"/>
          </p:cNvSpPr>
          <p:nvPr/>
        </p:nvSpPr>
        <p:spPr>
          <a:xfrm>
            <a:off x="8020050" y="1809750"/>
            <a:ext cx="327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3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93%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36393949-421D-46C0-B07B-9435142B0719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828"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of predicted vacuole pixels agreed with the annotation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421DEE39-C1FB-4F60-BDDE-D709BD1CCD7F}"/>
              </a:ext>
            </a:extLst>
          </p:cNvPr>
          <p:cNvSpPr>
            <a:spLocks noGrp="1"/>
          </p:cNvSpPr>
          <p:nvPr/>
        </p:nvSpPr>
        <p:spPr>
          <a:xfrm>
            <a:off x="7753350" y="3067050"/>
            <a:ext cx="3829050" cy="1276350"/>
          </a:xfrm>
          <a:prstGeom prst="roundRect">
            <a:avLst>
              <a:gd name="adj" fmla="val 7463"/>
            </a:avLst>
          </a:prstGeom>
          <a:solidFill>
            <a:srgbClr val="F4F6F9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E48F2E2E-AA17-473A-B7E4-70847BE91307}"/>
              </a:ext>
            </a:extLst>
          </p:cNvPr>
          <p:cNvSpPr>
            <a:spLocks noGrp="1"/>
          </p:cNvSpPr>
          <p:nvPr/>
        </p:nvSpPr>
        <p:spPr>
          <a:xfrm>
            <a:off x="8020050" y="3295650"/>
            <a:ext cx="327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3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71%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72D9A49C-D63B-4FFB-A805-66AE888CD724}"/>
              </a:ext>
            </a:extLst>
          </p:cNvPr>
          <p:cNvSpPr>
            <a:spLocks noGrp="1"/>
          </p:cNvSpPr>
          <p:nvPr/>
        </p:nvSpPr>
        <p:spPr>
          <a:xfrm>
            <a:off x="8020050" y="382905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of annotated vacuole pixels were found</a:t>
            </a:r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B6BBE39A-8E90-4C10-A6A4-131E7131D644}"/>
              </a:ext>
            </a:extLst>
          </p:cNvPr>
          <p:cNvSpPr>
            <a:spLocks noGrp="1"/>
          </p:cNvSpPr>
          <p:nvPr/>
        </p:nvSpPr>
        <p:spPr>
          <a:xfrm>
            <a:off x="7753350" y="4552950"/>
            <a:ext cx="3829050" cy="1200150"/>
          </a:xfrm>
          <a:prstGeom prst="roundRect">
            <a:avLst>
              <a:gd name="adj" fmla="val 7937"/>
            </a:avLst>
          </a:prstGeom>
          <a:solidFill>
            <a:srgbClr val="FFF4C7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27818753-D549-4EA0-9D44-6C20A68F3DCB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3276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75% overall overlap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E2F40591-96FF-4A7C-8621-1456DC1AA77D}"/>
              </a:ext>
            </a:extLst>
          </p:cNvPr>
          <p:cNvSpPr>
            <a:spLocks noGrp="1"/>
          </p:cNvSpPr>
          <p:nvPr/>
        </p:nvSpPr>
        <p:spPr>
          <a:xfrm>
            <a:off x="8020050" y="5105400"/>
            <a:ext cx="3276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921"/>
          </a:bodyPr>
          <a:lstStyle/>
          <a:p>
            <a:pPr algn="l">
              <a:buNone/>
              <a:defRPr sz="12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detector is conservative: false detections are limited, but some true area remains partial or missed.</a:t>
            </a:r>
          </a:p>
        </p:txBody>
      </p:sp>
    </p:spTree>
    <p:extLst>
      <p:ext uri="{BB962C8B-B14F-4D97-AF65-F5344CB8AC3E}">
        <p14:creationId xmlns:p14="http://schemas.microsoft.com/office/powerpoint/2010/main" val="1588170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8-title">
            <a:extLst>
              <a:ext uri="{FF2B5EF4-FFF2-40B4-BE49-F238E27FC236}">
                <a16:creationId xmlns:a16="http://schemas.microsoft.com/office/drawing/2014/main" id="{5F9B7211-5565-424D-92A7-13C36C214C97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Examples show both the strength and the limitation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CEDEC294-C171-44BC-B1F4-C3330DCE0251}"/>
              </a:ext>
            </a:extLst>
          </p:cNvPr>
          <p:cNvSpPr>
            <a:spLocks noGrp="1"/>
          </p:cNvSpPr>
          <p:nvPr/>
        </p:nvSpPr>
        <p:spPr>
          <a:xfrm>
            <a:off x="533400" y="1104900"/>
            <a:ext cx="10668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356FF784-4F6D-4ED4-93B7-DF6C116DBB40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37C6D008-3B07-4A2C-8291-C33DC8FFF4B1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3D7FFBC2-548E-46DB-A841-30F0B405BCF6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11125200" cy="2171700"/>
          </a:xfrm>
          <a:prstGeom prst="roundRect">
            <a:avLst>
              <a:gd name="adj" fmla="val 4386"/>
            </a:avLst>
          </a:prstGeom>
          <a:solidFill>
            <a:srgbClr val="F4F6F9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21" name="תמונה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84223" y="1409700"/>
            <a:ext cx="5823553" cy="2171700"/>
          </a:xfrm>
          <a:prstGeom prst="roundRect">
            <a:avLst>
              <a:gd name="adj" fmla="val 4386"/>
            </a:avLst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5324882F-8FEF-4B19-A7DA-6FE22C443FA7}"/>
              </a:ext>
            </a:extLst>
          </p:cNvPr>
          <p:cNvSpPr>
            <a:spLocks noGrp="1"/>
          </p:cNvSpPr>
          <p:nvPr/>
        </p:nvSpPr>
        <p:spPr>
          <a:xfrm>
            <a:off x="72390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Good agreement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6CA1791B-E924-4F8E-9D9B-52BBA0E15F12}"/>
              </a:ext>
            </a:extLst>
          </p:cNvPr>
          <p:cNvSpPr>
            <a:spLocks noGrp="1"/>
          </p:cNvSpPr>
          <p:nvPr/>
        </p:nvSpPr>
        <p:spPr>
          <a:xfrm>
            <a:off x="2667000" y="3657600"/>
            <a:ext cx="838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With valid masks, the prediction closely follows the main annotated vacuole.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7F72A0A4-96FF-41B4-B9E3-ABAA8081FAB3}"/>
              </a:ext>
            </a:extLst>
          </p:cNvPr>
          <p:cNvSpPr>
            <a:spLocks noGrp="1"/>
          </p:cNvSpPr>
          <p:nvPr/>
        </p:nvSpPr>
        <p:spPr>
          <a:xfrm>
            <a:off x="533400" y="4114800"/>
            <a:ext cx="11125200" cy="1676400"/>
          </a:xfrm>
          <a:prstGeom prst="roundRect">
            <a:avLst>
              <a:gd name="adj" fmla="val 5682"/>
            </a:avLst>
          </a:prstGeom>
          <a:solidFill>
            <a:srgbClr val="F4F6F9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25" name="תמונה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48313" y="4114800"/>
            <a:ext cx="4495374" cy="1676400"/>
          </a:xfrm>
          <a:prstGeom prst="roundRect">
            <a:avLst>
              <a:gd name="adj" fmla="val 5682"/>
            </a:avLst>
          </a:prstGeom>
        </p:spPr>
      </p:pic>
      <p:sp>
        <p:nvSpPr>
          <p:cNvPr id="11" name="מלבן 10">
            <a:extLst>
              <a:ext uri="{FF2B5EF4-FFF2-40B4-BE49-F238E27FC236}">
                <a16:creationId xmlns:a16="http://schemas.microsoft.com/office/drawing/2014/main" id="{18DCE69F-334C-461A-9099-CFDC6BB91C5D}"/>
              </a:ext>
            </a:extLst>
          </p:cNvPr>
          <p:cNvSpPr>
            <a:spLocks noGrp="1"/>
          </p:cNvSpPr>
          <p:nvPr/>
        </p:nvSpPr>
        <p:spPr>
          <a:xfrm>
            <a:off x="723900" y="58483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Thin clefts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FF1ECE90-0994-4179-97DF-341A75AF562C}"/>
              </a:ext>
            </a:extLst>
          </p:cNvPr>
          <p:cNvSpPr>
            <a:spLocks noGrp="1"/>
          </p:cNvSpPr>
          <p:nvPr/>
        </p:nvSpPr>
        <p:spPr>
          <a:xfrm>
            <a:off x="1962150" y="5829300"/>
            <a:ext cx="885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The model finds part of the structure but misses some of its extent.</a:t>
            </a:r>
          </a:p>
        </p:txBody>
      </p:sp>
    </p:spTree>
    <p:extLst>
      <p:ext uri="{BB962C8B-B14F-4D97-AF65-F5344CB8AC3E}">
        <p14:creationId xmlns:p14="http://schemas.microsoft.com/office/powerpoint/2010/main" val="1971437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9-title">
            <a:extLst>
              <a:ext uri="{FF2B5EF4-FFF2-40B4-BE49-F238E27FC236}">
                <a16:creationId xmlns:a16="http://schemas.microsoft.com/office/drawing/2014/main" id="{4EA53D19-8D55-4E3E-BAAA-97764B8C0A02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Crop and whole-image modes tell different stories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1BDF5DB1-0A8E-4EAC-86A9-E60237EA420F}"/>
              </a:ext>
            </a:extLst>
          </p:cNvPr>
          <p:cNvSpPr>
            <a:spLocks noGrp="1"/>
          </p:cNvSpPr>
          <p:nvPr/>
        </p:nvSpPr>
        <p:spPr>
          <a:xfrm>
            <a:off x="533400" y="1104900"/>
            <a:ext cx="10668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0DA99D1F-1214-4F54-BE3A-23B02CE6F56D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547F246D-040A-4BAE-AD2E-0CD4A4E4161F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F4B1FE04-1E28-4031-BE7E-03D3AA65C308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6191250" cy="4133850"/>
          </a:xfrm>
          <a:prstGeom prst="roundRect">
            <a:avLst>
              <a:gd name="adj" fmla="val 2304"/>
            </a:avLst>
          </a:prstGeom>
          <a:solidFill>
            <a:srgbClr val="F4F6F9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51E07910-17AC-48A3-A79C-76D4DCA4ACA5}"/>
              </a:ext>
            </a:extLst>
          </p:cNvPr>
          <p:cNvSpPr>
            <a:spLocks noGrp="1"/>
          </p:cNvSpPr>
          <p:nvPr/>
        </p:nvSpPr>
        <p:spPr>
          <a:xfrm>
            <a:off x="7219950" y="1581150"/>
            <a:ext cx="4324350" cy="1123950"/>
          </a:xfrm>
          <a:prstGeom prst="roundRect">
            <a:avLst>
              <a:gd name="adj" fmla="val 8475"/>
            </a:avLst>
          </a:prstGeom>
          <a:solidFill>
            <a:srgbClr val="F4F6F9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C6E1A230-D533-4784-9D74-CCEDF636D4E0}"/>
              </a:ext>
            </a:extLst>
          </p:cNvPr>
          <p:cNvSpPr>
            <a:spLocks noGrp="1"/>
          </p:cNvSpPr>
          <p:nvPr/>
        </p:nvSpPr>
        <p:spPr>
          <a:xfrm>
            <a:off x="7486650" y="17526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40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25 / 43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B81AFA1A-CAFB-4E39-A733-25B505A4B447}"/>
              </a:ext>
            </a:extLst>
          </p:cNvPr>
          <p:cNvSpPr>
            <a:spLocks noGrp="1"/>
          </p:cNvSpPr>
          <p:nvPr/>
        </p:nvSpPr>
        <p:spPr>
          <a:xfrm>
            <a:off x="9048750" y="1847850"/>
            <a:ext cx="219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target fibers found automatically</a:t>
            </a: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17ABEF57-C99B-4837-A296-131026740E85}"/>
              </a:ext>
            </a:extLst>
          </p:cNvPr>
          <p:cNvSpPr>
            <a:spLocks noGrp="1"/>
          </p:cNvSpPr>
          <p:nvPr/>
        </p:nvSpPr>
        <p:spPr>
          <a:xfrm>
            <a:off x="7219950" y="2933700"/>
            <a:ext cx="4324350" cy="1123950"/>
          </a:xfrm>
          <a:prstGeom prst="roundRect">
            <a:avLst>
              <a:gd name="adj" fmla="val 8475"/>
            </a:avLst>
          </a:prstGeom>
          <a:solidFill>
            <a:srgbClr val="F4F6F9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285B36F0-8111-4C41-B404-C3B87DD85BC2}"/>
              </a:ext>
            </a:extLst>
          </p:cNvPr>
          <p:cNvSpPr>
            <a:spLocks noGrp="1"/>
          </p:cNvSpPr>
          <p:nvPr/>
        </p:nvSpPr>
        <p:spPr>
          <a:xfrm>
            <a:off x="7486650" y="310515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40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15 / 43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63E4257B-7D74-4CF2-BF58-6AF9705BF9DA}"/>
              </a:ext>
            </a:extLst>
          </p:cNvPr>
          <p:cNvSpPr>
            <a:spLocks noGrp="1"/>
          </p:cNvSpPr>
          <p:nvPr/>
        </p:nvSpPr>
        <p:spPr>
          <a:xfrm>
            <a:off x="9048750" y="3200400"/>
            <a:ext cx="219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fibers with acceptable automatic masks</a:t>
            </a: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858DDB12-A141-4C84-ADD3-574F30BDACB2}"/>
              </a:ext>
            </a:extLst>
          </p:cNvPr>
          <p:cNvSpPr>
            <a:spLocks noGrp="1"/>
          </p:cNvSpPr>
          <p:nvPr/>
        </p:nvSpPr>
        <p:spPr>
          <a:xfrm>
            <a:off x="7219950" y="4286250"/>
            <a:ext cx="4324350" cy="1123950"/>
          </a:xfrm>
          <a:prstGeom prst="roundRect">
            <a:avLst>
              <a:gd name="adj" fmla="val 8475"/>
            </a:avLst>
          </a:prstGeom>
          <a:solidFill>
            <a:srgbClr val="FFF4C7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99FF6398-2133-4F61-B8B1-4B9F53836A03}"/>
              </a:ext>
            </a:extLst>
          </p:cNvPr>
          <p:cNvSpPr>
            <a:spLocks noGrp="1"/>
          </p:cNvSpPr>
          <p:nvPr/>
        </p:nvSpPr>
        <p:spPr>
          <a:xfrm>
            <a:off x="7486650" y="44577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40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04AEE35E-A62F-47AA-A3C3-9FD6B1FA591C}"/>
              </a:ext>
            </a:extLst>
          </p:cNvPr>
          <p:cNvSpPr>
            <a:spLocks noGrp="1"/>
          </p:cNvSpPr>
          <p:nvPr/>
        </p:nvSpPr>
        <p:spPr>
          <a:xfrm>
            <a:off x="9048750" y="4552950"/>
            <a:ext cx="219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fibers missed before vacuole detection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8BAE0B85-B981-447E-88EF-89061A246A4A}"/>
              </a:ext>
            </a:extLst>
          </p:cNvPr>
          <p:cNvSpPr>
            <a:spLocks noGrp="1"/>
          </p:cNvSpPr>
          <p:nvPr/>
        </p:nvSpPr>
        <p:spPr>
          <a:xfrm>
            <a:off x="7219950" y="5734050"/>
            <a:ext cx="432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1582"/>
          </a:bodyPr>
          <a:lstStyle/>
          <a:p>
            <a:pPr algn="ctr">
              <a:buNone/>
              <a:defRPr sz="1500" b="1" i="0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64545"/>
                </a:solidFill>
                <a:latin typeface="Arial"/>
                <a:ea typeface="Arial"/>
                <a:cs typeface="Arial"/>
              </a:rPr>
              <a:t>Crop mode is promising; whole-image automation still needs work</a:t>
            </a:r>
          </a:p>
        </p:txBody>
      </p:sp>
      <p:pic>
        <p:nvPicPr>
          <p:cNvPr id="34" name="תמונה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2197894"/>
            <a:ext cx="6191250" cy="278606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מלבן 25">
            <a:extLst>
              <a:ext uri="{FF2B5EF4-FFF2-40B4-BE49-F238E27FC236}">
                <a16:creationId xmlns:a16="http://schemas.microsoft.com/office/drawing/2014/main" id="{A377B5ED-3FAA-4554-A651-5EF6B70CC253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2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What we learned—and what must happen next</a:t>
            </a:r>
          </a:p>
        </p:txBody>
      </p:sp>
      <p:sp>
        <p:nvSpPr>
          <p:cNvPr id="2" name="מלבן: פינות מעוגלות 1">
            <a:extLst>
              <a:ext uri="{FF2B5EF4-FFF2-40B4-BE49-F238E27FC236}">
                <a16:creationId xmlns:a16="http://schemas.microsoft.com/office/drawing/2014/main" id="{EA7CD5DB-0304-4395-BF35-1FBC0FB775B3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5181600" cy="3714750"/>
          </a:xfrm>
          <a:prstGeom prst="roundRect">
            <a:avLst>
              <a:gd name="adj" fmla="val 3590"/>
            </a:avLst>
          </a:prstGeom>
          <a:solidFill>
            <a:srgbClr val="DCEE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FA3FEAE6-3A6A-4DB2-9A7A-E17C773288D1}"/>
              </a:ext>
            </a:extLst>
          </p:cNvPr>
          <p:cNvSpPr>
            <a:spLocks noGrp="1"/>
          </p:cNvSpPr>
          <p:nvPr/>
        </p:nvSpPr>
        <p:spPr>
          <a:xfrm>
            <a:off x="819150" y="175260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this project shows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BE57BEE2-199B-4A88-9A02-FF3766AC8B8E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9DA631DD-3AB4-4A36-926C-BE723DBEEFCD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424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 real measurement problem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86FE414E-A898-4F08-8007-62BB9FE5F7B8}"/>
              </a:ext>
            </a:extLst>
          </p:cNvPr>
          <p:cNvSpPr>
            <a:spLocks noGrp="1"/>
          </p:cNvSpPr>
          <p:nvPr/>
        </p:nvSpPr>
        <p:spPr>
          <a:xfrm>
            <a:off x="1066800" y="2647950"/>
            <a:ext cx="4248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Vacuoles can distort measurements based only on inner and outer boundaries.</a:t>
            </a: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E814B275-948B-44FE-832E-2F535F231ACD}"/>
              </a:ext>
            </a:extLst>
          </p:cNvPr>
          <p:cNvSpPr>
            <a:spLocks noGrp="1"/>
          </p:cNvSpPr>
          <p:nvPr/>
        </p:nvSpPr>
        <p:spPr>
          <a:xfrm>
            <a:off x="838200" y="3352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FFC76C78-9A2A-4B9D-8A5F-A0EDC48621F2}"/>
              </a:ext>
            </a:extLst>
          </p:cNvPr>
          <p:cNvSpPr>
            <a:spLocks noGrp="1"/>
          </p:cNvSpPr>
          <p:nvPr/>
        </p:nvSpPr>
        <p:spPr>
          <a:xfrm>
            <a:off x="1066800" y="3276600"/>
            <a:ext cx="424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 practical crop workflow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3DF65C6D-0AAC-4F53-8D2A-26BCE17F36D4}"/>
              </a:ext>
            </a:extLst>
          </p:cNvPr>
          <p:cNvSpPr>
            <a:spLocks noGrp="1"/>
          </p:cNvSpPr>
          <p:nvPr/>
        </p:nvSpPr>
        <p:spPr>
          <a:xfrm>
            <a:off x="1066800" y="3600450"/>
            <a:ext cx="4248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Guided masks and a transparent detector produce overlays and area measurements.</a:t>
            </a: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E641052F-2403-484A-AA2F-A60375DE932F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4F09018E-837F-426A-8DC9-D05337E453F6}"/>
              </a:ext>
            </a:extLst>
          </p:cNvPr>
          <p:cNvSpPr>
            <a:spLocks noGrp="1"/>
          </p:cNvSpPr>
          <p:nvPr/>
        </p:nvSpPr>
        <p:spPr>
          <a:xfrm>
            <a:off x="1066800" y="4229100"/>
            <a:ext cx="424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Promising proof of concept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F471D53C-02E9-42BC-9A67-8F6BF76252D1}"/>
              </a:ext>
            </a:extLst>
          </p:cNvPr>
          <p:cNvSpPr>
            <a:spLocks noGrp="1"/>
          </p:cNvSpPr>
          <p:nvPr/>
        </p:nvSpPr>
        <p:spPr>
          <a:xfrm>
            <a:off x="1066800" y="4552950"/>
            <a:ext cx="4248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Median test Dice was 0.752 with supplied masks, but some vacuoles remain partial.</a:t>
            </a: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36F06397-9966-4EB8-B2AB-124DFBC89C57}"/>
              </a:ext>
            </a:extLst>
          </p:cNvPr>
          <p:cNvSpPr>
            <a:spLocks noGrp="1"/>
          </p:cNvSpPr>
          <p:nvPr/>
        </p:nvSpPr>
        <p:spPr>
          <a:xfrm>
            <a:off x="6019800" y="1466850"/>
            <a:ext cx="5181600" cy="3714750"/>
          </a:xfrm>
          <a:prstGeom prst="roundRect">
            <a:avLst>
              <a:gd name="adj" fmla="val 3590"/>
            </a:avLst>
          </a:prstGeom>
          <a:solidFill>
            <a:srgbClr val="F4F6F9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CB460188-63BD-4952-AB9D-6F205A06972F}"/>
              </a:ext>
            </a:extLst>
          </p:cNvPr>
          <p:cNvSpPr>
            <a:spLocks noGrp="1"/>
          </p:cNvSpPr>
          <p:nvPr/>
        </p:nvSpPr>
        <p:spPr>
          <a:xfrm>
            <a:off x="6305550" y="175260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must come next</a:t>
            </a:r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76E6EB2B-CABC-423E-94E5-F49C25B6CEEC}"/>
              </a:ext>
            </a:extLst>
          </p:cNvPr>
          <p:cNvSpPr>
            <a:spLocks noGrp="1"/>
          </p:cNvSpPr>
          <p:nvPr/>
        </p:nvSpPr>
        <p:spPr>
          <a:xfrm>
            <a:off x="6324600" y="2400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44080295-B1B1-4477-8D16-E5A707674D20}"/>
              </a:ext>
            </a:extLst>
          </p:cNvPr>
          <p:cNvSpPr>
            <a:spLocks noGrp="1"/>
          </p:cNvSpPr>
          <p:nvPr/>
        </p:nvSpPr>
        <p:spPr>
          <a:xfrm>
            <a:off x="6553200" y="2324100"/>
            <a:ext cx="424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Expert annotations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317BCF41-6785-4A04-828C-6DF370A697B4}"/>
              </a:ext>
            </a:extLst>
          </p:cNvPr>
          <p:cNvSpPr>
            <a:spLocks noGrp="1"/>
          </p:cNvSpPr>
          <p:nvPr/>
        </p:nvSpPr>
        <p:spPr>
          <a:xfrm>
            <a:off x="6553200" y="2647950"/>
            <a:ext cx="4248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Use blinded labels from more than one domain expert.</a:t>
            </a:r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E9E27129-5A87-4407-8EC6-04B4A16BE51A}"/>
              </a:ext>
            </a:extLst>
          </p:cNvPr>
          <p:cNvSpPr>
            <a:spLocks noGrp="1"/>
          </p:cNvSpPr>
          <p:nvPr/>
        </p:nvSpPr>
        <p:spPr>
          <a:xfrm>
            <a:off x="6324600" y="3352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6366937F-B96A-4402-A097-40BCA37F3DF8}"/>
              </a:ext>
            </a:extLst>
          </p:cNvPr>
          <p:cNvSpPr>
            <a:spLocks noGrp="1"/>
          </p:cNvSpPr>
          <p:nvPr/>
        </p:nvSpPr>
        <p:spPr>
          <a:xfrm>
            <a:off x="6553200" y="3276600"/>
            <a:ext cx="424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Independent validation</a:t>
            </a: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778BCFA7-BE16-469C-B14E-21AE48579159}"/>
              </a:ext>
            </a:extLst>
          </p:cNvPr>
          <p:cNvSpPr>
            <a:spLocks noGrp="1"/>
          </p:cNvSpPr>
          <p:nvPr/>
        </p:nvSpPr>
        <p:spPr>
          <a:xfrm>
            <a:off x="6553200" y="3600450"/>
            <a:ext cx="4248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Test on new animals, preparations, and source images.</a:t>
            </a:r>
          </a:p>
        </p:txBody>
      </p:sp>
      <p:sp>
        <p:nvSpPr>
          <p:cNvPr id="21" name="מלבן: פינות מעוגלות 20">
            <a:extLst>
              <a:ext uri="{FF2B5EF4-FFF2-40B4-BE49-F238E27FC236}">
                <a16:creationId xmlns:a16="http://schemas.microsoft.com/office/drawing/2014/main" id="{055C3734-6A50-4B31-A791-A5251982F9C0}"/>
              </a:ext>
            </a:extLst>
          </p:cNvPr>
          <p:cNvSpPr>
            <a:spLocks noGrp="1"/>
          </p:cNvSpPr>
          <p:nvPr/>
        </p:nvSpPr>
        <p:spPr>
          <a:xfrm>
            <a:off x="6324600" y="4305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C9FC6CF4-603A-45E1-BA28-49511D7CFC40}"/>
              </a:ext>
            </a:extLst>
          </p:cNvPr>
          <p:cNvSpPr>
            <a:spLocks noGrp="1"/>
          </p:cNvSpPr>
          <p:nvPr/>
        </p:nvSpPr>
        <p:spPr>
          <a:xfrm>
            <a:off x="6553200" y="4229100"/>
            <a:ext cx="424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Better whole-image segmentation</a:t>
            </a: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B7804A87-353E-45EF-88BB-DB583C15CC60}"/>
              </a:ext>
            </a:extLst>
          </p:cNvPr>
          <p:cNvSpPr>
            <a:spLocks noGrp="1"/>
          </p:cNvSpPr>
          <p:nvPr/>
        </p:nvSpPr>
        <p:spPr>
          <a:xfrm>
            <a:off x="6553200" y="4552950"/>
            <a:ext cx="4248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Train the boundary-detection stage on local laboratory images.</a:t>
            </a: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56585A6A-D9FB-4945-9C6D-40A7900D9D00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924E4A73-A201-4700-99CE-EF0572326E10}"/>
              </a:ext>
            </a:extLst>
          </p:cNvPr>
          <p:cNvSpPr>
            <a:spLocks noGrp="1"/>
          </p:cNvSpPr>
          <p:nvPr/>
        </p:nvSpPr>
        <p:spPr>
          <a:xfrm>
            <a:off x="533400" y="60960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Cropped analysis is promising; fully automatic analysis is not yet validated.</a:t>
            </a:r>
          </a:p>
        </p:txBody>
      </p:sp>
    </p:spTree>
    <p:extLst>
      <p:ext uri="{BB962C8B-B14F-4D97-AF65-F5344CB8AC3E}">
        <p14:creationId xmlns:p14="http://schemas.microsoft.com/office/powerpoint/2010/main" val="132285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1868</Words>
  <Application>Microsoft Office PowerPoint</Application>
  <DocSecurity>0</DocSecurity>
  <PresentationFormat>מסך רחב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Amit Yehezkel</cp:lastModifiedBy>
  <cp:revision>1</cp:revision>
  <dcterms:created xsi:type="dcterms:W3CDTF">2026-08-31T15:08:54Z</dcterms:created>
  <dcterms:modified xsi:type="dcterms:W3CDTF">2026-08-31T16:01:41Z</dcterms:modified>
</cp:coreProperties>
</file>