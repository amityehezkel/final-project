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67235ec8c2454a" /><Relationship Type="http://schemas.openxmlformats.org/officeDocument/2006/relationships/extended-properties" Target="/docProps/app.xml" Id="R85687d0b45664886" /><Relationship Type="http://schemas.openxmlformats.org/officeDocument/2006/relationships/officeDocument" Target="/ppt/presentation.xml" Id="R25331b5feaf348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d3718640f8443d"/>
  </p:sldMasterIdLst>
  <p:notesMasterIdLst>
    <p:notesMasterId xmlns:r="http://schemas.openxmlformats.org/officeDocument/2006/relationships" r:id="R9264859592544711"/>
  </p:notesMasterIdLst>
  <p:sldIdLst>
    <p:sldId xmlns:r="http://schemas.openxmlformats.org/officeDocument/2006/relationships" id="256" r:id="R39904e83e0c548a6"/>
    <p:sldId xmlns:r="http://schemas.openxmlformats.org/officeDocument/2006/relationships" id="257" r:id="R5c107a85ca194252"/>
    <p:sldId xmlns:r="http://schemas.openxmlformats.org/officeDocument/2006/relationships" id="258" r:id="Re9bdca610a4f430c"/>
    <p:sldId xmlns:r="http://schemas.openxmlformats.org/officeDocument/2006/relationships" id="259" r:id="Rccd65008d8194442"/>
    <p:sldId xmlns:r="http://schemas.openxmlformats.org/officeDocument/2006/relationships" id="260" r:id="R384989f06e5241d5"/>
    <p:sldId xmlns:r="http://schemas.openxmlformats.org/officeDocument/2006/relationships" id="261" r:id="Rd05144a6239e452c"/>
    <p:sldId xmlns:r="http://schemas.openxmlformats.org/officeDocument/2006/relationships" id="262" r:id="R4d8c78bd4f5342e2"/>
    <p:sldId xmlns:r="http://schemas.openxmlformats.org/officeDocument/2006/relationships" id="263" r:id="Reb68c72988e94082"/>
    <p:sldId xmlns:r="http://schemas.openxmlformats.org/officeDocument/2006/relationships" id="264" r:id="R975c4c2d57df49f1"/>
    <p:sldId xmlns:r="http://schemas.openxmlformats.org/officeDocument/2006/relationships" id="265" r:id="Rfe776dcb3bef41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a53c78aa6d4217" /><Relationship Type="http://schemas.openxmlformats.org/officeDocument/2006/relationships/slideMaster" Target="/ppt/slideMasters/slideMaster1.xml" Id="R09d3718640f8443d" /><Relationship Type="http://schemas.openxmlformats.org/officeDocument/2006/relationships/notesMaster" Target="/ppt/notesMasters/notesMaster1.xml" Id="R9264859592544711" /><Relationship Type="http://schemas.openxmlformats.org/officeDocument/2006/relationships/presProps" Target="/ppt/presProps.xml" Id="R4e54d8299d554336" /><Relationship Type="http://schemas.openxmlformats.org/officeDocument/2006/relationships/tableStyles" Target="/ppt/tableStyles.xml" Id="Rf45d979f5b2f48f1" /><Relationship Type="http://schemas.openxmlformats.org/officeDocument/2006/relationships/slide" Target="/ppt/slides/slide1.xml" Id="R39904e83e0c548a6" /><Relationship Type="http://schemas.openxmlformats.org/officeDocument/2006/relationships/slide" Target="/ppt/slides/slide2.xml" Id="R5c107a85ca194252" /><Relationship Type="http://schemas.openxmlformats.org/officeDocument/2006/relationships/slide" Target="/ppt/slides/slide3.xml" Id="Re9bdca610a4f430c" /><Relationship Type="http://schemas.openxmlformats.org/officeDocument/2006/relationships/slide" Target="/ppt/slides/slide4.xml" Id="Rccd65008d8194442" /><Relationship Type="http://schemas.openxmlformats.org/officeDocument/2006/relationships/slide" Target="/ppt/slides/slide5.xml" Id="R384989f06e5241d5" /><Relationship Type="http://schemas.openxmlformats.org/officeDocument/2006/relationships/slide" Target="/ppt/slides/slide6.xml" Id="Rd05144a6239e452c" /><Relationship Type="http://schemas.openxmlformats.org/officeDocument/2006/relationships/slide" Target="/ppt/slides/slide7.xml" Id="R4d8c78bd4f5342e2" /><Relationship Type="http://schemas.openxmlformats.org/officeDocument/2006/relationships/slide" Target="/ppt/slides/slide8.xml" Id="Reb68c72988e94082" /><Relationship Type="http://schemas.openxmlformats.org/officeDocument/2006/relationships/slide" Target="/ppt/slides/slide9.xml" Id="R975c4c2d57df49f1" /><Relationship Type="http://schemas.openxmlformats.org/officeDocument/2006/relationships/slide" Target="/ppt/slides/slide10.xml" Id="Rfe776dcb3bef41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a034d837c849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7743d06647410d" /><Relationship Type="http://schemas.openxmlformats.org/officeDocument/2006/relationships/notesMaster" Target="/ppt/notesMasters/notesMaster1.xml" Id="Rced67e1bad664a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6421a52dcf4c38" /><Relationship Type="http://schemas.openxmlformats.org/officeDocument/2006/relationships/notesMaster" Target="/ppt/notesMasters/notesMaster1.xml" Id="Rb301e1d4995b45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002c3ecd743dd" /><Relationship Type="http://schemas.openxmlformats.org/officeDocument/2006/relationships/notesMaster" Target="/ppt/notesMasters/notesMaster1.xml" Id="R67779ae121fb41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eda09396c34747" /><Relationship Type="http://schemas.openxmlformats.org/officeDocument/2006/relationships/notesMaster" Target="/ppt/notesMasters/notesMaster1.xml" Id="Re1b8f7b786f740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29f3abadea492a" /><Relationship Type="http://schemas.openxmlformats.org/officeDocument/2006/relationships/notesMaster" Target="/ppt/notesMasters/notesMaster1.xml" Id="R7d78a35aa0404b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26ea81beed41e9" /><Relationship Type="http://schemas.openxmlformats.org/officeDocument/2006/relationships/notesMaster" Target="/ppt/notesMasters/notesMaster1.xml" Id="Rf4d5758f7be643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cc44f7a32e4b9e" /><Relationship Type="http://schemas.openxmlformats.org/officeDocument/2006/relationships/notesMaster" Target="/ppt/notesMasters/notesMaster1.xml" Id="R100acc2bed2f45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54c4b8fb2d4a4c" /><Relationship Type="http://schemas.openxmlformats.org/officeDocument/2006/relationships/notesMaster" Target="/ppt/notesMasters/notesMaster1.xml" Id="R9b6cd75d04ac45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b139dbff3d4b55" /><Relationship Type="http://schemas.openxmlformats.org/officeDocument/2006/relationships/notesMaster" Target="/ppt/notesMasters/notesMaster1.xml" Id="R247d7b808bbb40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d965b63df742b3" /><Relationship Type="http://schemas.openxmlformats.org/officeDocument/2006/relationships/notesMaster" Target="/ppt/notesMasters/notesMaster1.xml" Id="R03d0dec0e01a44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the biological measurement problem and the team. State the one-sentence goal: detect vacuolar disruption inside a myelin sheath so damaged myelin is not mistaken for healthy thickness.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asset: work/benchmark_three_mode_overlays/p1292_neo5_axon-01/01_annotation_overlay.png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blue = axon, red = outer fiber, yellow = vacuole. The standard g-ratio sees the outer envelope, so separated lamellae can look like additional thickness. Emphasize that the project does not replace established biology; it adds a damage-aware area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Fischer et al., Science Advances 10, eadl4573 (2024).</a:t>
            </a:r>
          </a:p>
          <a:p xmlns:a="http://schemas.openxmlformats.org/drawingml/2006/main">
            <a:r>
              <a:t>- Kaiser et al., eNeuro 8(4), ENEURO.0558-20.2021 (2021).</a:t>
            </a:r>
          </a:p>
          <a:p xmlns:a="http://schemas.openxmlformats.org/drawingml/2006/main">
            <a:r>
              <a:t>- Local project asset: work/benchmark_three_mode_overlays/p1292_neo5_axon-01/01_annotation_overlay.png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through the area subtraction. Explain why count was removed: component splitting makes it unstable. Keep the claim cautious: this is a useful area-based correction, not yet a validated replacement for conventional g-ratio.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TECHNICAL_MODEL_GUIDE.md, sections 1 and 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Walk through the five alternatives from left to right. These are entry paths, not five different vacuole models. Users can now start with python -m mvp_pipeline: the terminal wizard asks what inputs exist, validates paths and scale information, checks environment readiness, and shows the equivalent explicit command before dispatch. Automatic whole-image analysis requires explicit experimental-mode opt-in. The explicit commands remain available for reproducibility and scripting. Emphasize that usability was not formally evaluated: the launcher and guided interface are engineering and reproducibility contributions.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mvp_pipeline/wizard.py, mvp_pipeline/cli.py, tests/test_wizard.py, START_HERE.md, and TECHNICAL_MODEL_GUIDE.md.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Spend most of the methods time here. Explain hysteresis: a high threshold finds trustworthy seeds, while a lower threshold is accepted only when connected. Refinement improves borders but cannot invent a seed. Rescue revisits the raw candidate with gentler morphology and rejects line-like or outer-edge texture using context features.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Otsu, IEEE Transactions on Systems, Man, and Cybernetics 9(1), 62–66 (1979).</a:t>
            </a:r>
          </a:p>
          <a:p xmlns:a="http://schemas.openxmlformats.org/drawingml/2006/main">
            <a:r>
              <a:t>- Zuiderveld, Contrast Limited Adaptive Histogram Equalization, Graphics Gems IV (1994).</a:t>
            </a:r>
          </a:p>
          <a:p xmlns:a="http://schemas.openxmlformats.org/drawingml/2006/main">
            <a:r>
              <a:t>- Local project: TECHNICAL_MODEL_GUIDE.md, sections 4–8.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State the benchmark honestly. Mention the two QC-excluded test fibers. The split by source reduces leakage, but repeated visual inspection means this is not a fully untouched test set. This transparency strengthens the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work/benchmark/benchmark.csv and work/best_model_results/summary.json.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Define Dice and IoU briefly as overlap metrics. Precision is higher than recall, so the detector is conservative. There is no universal submission threshold; this is best presented as a successful proof of concept with clear remaining under-segmentation.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work/best_model_results/summary.json and evaluation_per_axon.csv.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top row to show that the detector often finds the correct region but may not cover the entire annotation. Use the bottom row to explain the hard trade-off: thin lamellar clefts resemble normal myelin spacing. Lowering the threshold globally increased compact-fiber false positives, so the final rescue branch is selective.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asset: work/benchmark_three_mode_overlays/p1292_neo5_axon-01/00_three_way_comparison.png</a:t>
            </a:r>
          </a:p>
          <a:p xmlns:a="http://schemas.openxmlformats.org/drawingml/2006/main">
            <a:r>
              <a:t>- Local project asset: work/benchmark_three_mode_overlays/extra_p1265_neoview57_01/00_three_way_comparison.png</a:t>
            </a:r>
          </a:p>
          <a:p xmlns:a="http://schemas.openxmlformats.org/drawingml/2006/main">
            <a:r>
              <a:t>- Local project: TECHNICAL_MODEL_GUIDE.md, section 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compare this zero directly with cropped-mode Dice as if they were the same experiment. Whole-image mode adds target finding and automatic axon/outer masks. Those masks transfer poorly to this local domain, so many fibers never reach the shared detector correctly. Present mode 1 as a proposal-and-review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work/separate_mode_results/whole_image_mode/summary.json.</a:t>
            </a:r>
          </a:p>
          <a:p xmlns:a="http://schemas.openxmlformats.org/drawingml/2006/main">
            <a:r>
              <a:t>- Local project asset: work/separate_mode_results/whole_image_mode/end_to_end_evaluation_overview.png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0:45 + 3–5 min Q&amp;A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with a two-part claim: the cropped-mask core is promising; automatic whole-image segmentation remains future work. Invite questions. If asked whether the model is good enough, answer: yes for a transparent course proof of concept, no for clinical or definitive biological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work/best_model_results/summary.json, TECHNICAL_MODEL_GUIDE.md, and final report draft.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4628f0d964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15e96262344d34" /><Relationship Type="http://schemas.openxmlformats.org/officeDocument/2006/relationships/slideLayout" Target="/ppt/slideLayouts/slideLayout1.xml" Id="R1e6af6460a9d45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6af6460a9d45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cc161b4a14257" /><Relationship Type="http://schemas.openxmlformats.org/officeDocument/2006/relationships/image" Target="/ppt/media/image.png" Id="R2bc5753526d443a0" /><Relationship Type="http://schemas.openxmlformats.org/officeDocument/2006/relationships/notesSlide" Target="/ppt/notesSlides/notesSlide1.xml" Id="Rf38db015c22244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9ee2580314bb9" /><Relationship Type="http://schemas.openxmlformats.org/officeDocument/2006/relationships/image" Target="/ppt/media/image2.png" Id="R01c07a3757a846af" /><Relationship Type="http://schemas.openxmlformats.org/officeDocument/2006/relationships/notesSlide" Target="/ppt/notesSlides/notesSlide2.xml" Id="Rf26e82fe7fb34a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dff6d46744e3e" /><Relationship Type="http://schemas.openxmlformats.org/officeDocument/2006/relationships/notesSlide" Target="/ppt/notesSlides/notesSlide3.xml" Id="R28d9686abbe649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e0557b6ed4b68" /><Relationship Type="http://schemas.openxmlformats.org/officeDocument/2006/relationships/notesSlide" Target="/ppt/notesSlides/notesSlide4.xml" Id="R84cee0e6375549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3adc190ab46c2" /><Relationship Type="http://schemas.openxmlformats.org/officeDocument/2006/relationships/notesSlide" Target="/ppt/notesSlides/notesSlide5.xml" Id="Rd575bf79a98944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334e53a684bc9" /><Relationship Type="http://schemas.openxmlformats.org/officeDocument/2006/relationships/notesSlide" Target="/ppt/notesSlides/notesSlide6.xml" Id="Rd6b4f6b5e68a49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b39ef333b430d" /><Relationship Type="http://schemas.openxmlformats.org/officeDocument/2006/relationships/chart" Target="/ppt/slides/charts/chart1.xml" Id="R0843cf3a3de941dc" /><Relationship Type="http://schemas.openxmlformats.org/officeDocument/2006/relationships/notesSlide" Target="/ppt/notesSlides/notesSlide7.xml" Id="Rf296449776cd42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63ed03d224931" /><Relationship Type="http://schemas.openxmlformats.org/officeDocument/2006/relationships/image" Target="/ppt/media/image3.png" Id="R84a6a310900d499c" /><Relationship Type="http://schemas.openxmlformats.org/officeDocument/2006/relationships/image" Target="/ppt/media/image4.png" Id="Ra953cb5238914a66" /><Relationship Type="http://schemas.openxmlformats.org/officeDocument/2006/relationships/notesSlide" Target="/ppt/notesSlides/notesSlide8.xml" Id="Rd741e8684cd843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2ed45aa2b4bce" /><Relationship Type="http://schemas.openxmlformats.org/officeDocument/2006/relationships/image" Target="/ppt/media/image5.png" Id="R0b1750a2a152459d" /><Relationship Type="http://schemas.openxmlformats.org/officeDocument/2006/relationships/notesSlide" Target="/ppt/notesSlides/notesSlide9.xml" Id="R786a150e020845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6f215c7d64cb8" /><Relationship Type="http://schemas.openxmlformats.org/officeDocument/2006/relationships/notesSlide" Target="/ppt/notesSlides/notesSlide10.xml" Id="R5d65aa06893d4bf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Development</c:v>
          </c:tx>
          <c:spPr>
            <a:solidFill xmlns:a="http://schemas.openxmlformats.org/drawingml/2006/main">
              <a:srgbClr val="9BD5F5"/>
            </a:solidFill>
          </c:spPr>
          <c:cat>
            <c:strLit>
              <c:ptCount val="4"/>
              <c:pt idx="0">
                <c:v>Dice</c:v>
              </c:pt>
              <c:pt idx="1">
                <c:v>IoU</c:v>
              </c:pt>
              <c:pt idx="2">
                <c:v>Precision</c:v>
              </c:pt>
              <c:pt idx="3">
                <c:v>Recall</c:v>
              </c:pt>
            </c:strLit>
          </c:cat>
          <c:val>
            <c:numLit>
              <c:formatCode>0.000</c:formatCode>
              <c:ptCount val="4"/>
              <c:pt idx="0">
                <c:v>0.764</c:v>
              </c:pt>
              <c:pt idx="1">
                <c:v>0.619</c:v>
              </c:pt>
              <c:pt idx="2">
                <c:v>1</c:v>
              </c:pt>
              <c:pt idx="3">
                <c:v>0.842</c:v>
              </c:pt>
            </c:numLit>
          </c:val>
        </c:ser>
        <c:ser>
          <c:idx val="1"/>
          <c:order val="1"/>
          <c:tx>
            <c:v>Test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Dice</c:v>
              </c:pt>
              <c:pt idx="1">
                <c:v>IoU</c:v>
              </c:pt>
              <c:pt idx="2">
                <c:v>Precision</c:v>
              </c:pt>
              <c:pt idx="3">
                <c:v>Recall</c:v>
              </c:pt>
            </c:strLit>
          </c:cat>
          <c:val>
            <c:numLit>
              <c:formatCode>0.000</c:formatCode>
              <c:ptCount val="4"/>
              <c:pt idx="0">
                <c:v>0.752</c:v>
              </c:pt>
              <c:pt idx="1">
                <c:v>0.603</c:v>
              </c:pt>
              <c:pt idx="2">
                <c:v>0.93</c:v>
              </c:pt>
              <c:pt idx="3">
                <c:v>0.714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827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B7A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F6B7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A33A4-81DA-40CD-A613-E055D5CB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52768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VACUOLE-AWARE</a:t>
            </a:r>
          </a:p>
          <a:p xmlns:a="http://schemas.openxmlformats.org/drawingml/2006/main">
            <a:pPr algn="l">
              <a:buNone/>
              <a:defRPr sz="40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MYELIN QUANTIFICATION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5B71A-FD35-446A-9891-9734BB7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490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Detecting pathological vacuolar disruption in electron-microscopy fibers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0953B-F4AC-44F2-8DA5-56E44B5C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67200"/>
            <a:ext cx="1162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001CE-D823-4683-8054-B3F2F37C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Noy Elyasi  ·  Roni Hagai  ·  Amit Yehezkel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366C8-9CCB-4B4E-87CF-C0B7AAAB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Course project · final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9870F-BCEF-4A52-8174-AA3572B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410200" cy="57150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c5753526d443a0"/>
          <a:srcRect xmlns:a="http://schemas.openxmlformats.org/drawingml/2006/main" l="0" t="7746" r="0" b="7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14350"/>
            <a:ext cx="5410200" cy="5715000"/>
          </a:xfrm>
          <a:prstGeom xmlns:a="http://schemas.openxmlformats.org/drawingml/2006/main" prst="roundRect">
            <a:avLst>
              <a:gd name="adj" fmla="val 1761"/>
            </a:avLst>
          </a:prstGeom>
        </p:spPr>
      </p:pic>
    </p:spTree>
    <p:extLst>
      <p:ext uri="{BB962C8B-B14F-4D97-AF65-F5344CB8AC3E}">
        <p14:creationId xmlns:p14="http://schemas.microsoft.com/office/powerpoint/2010/main" val="685495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5FA2316-4243-4464-B182-6A91F8D7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362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outer boundary can make damaged myelin look deceptively thick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BE623-9C83-453B-87A1-392D8B5B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AC361-C02A-47C6-BAB7-57371D7A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B7DB-D2B0-47DC-8B40-B0B5732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54606-214D-4DF3-8B55-3C11C4D0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000500" cy="44767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07a3757a846af"/>
          <a:stretch xmlns:a="http://schemas.openxmlformats.org/drawingml/2006/main"/>
        </p:blipFill>
        <p:spPr>
          <a:xfrm xmlns:a="http://schemas.openxmlformats.org/drawingml/2006/main">
            <a:off x="742950" y="1466850"/>
            <a:ext cx="3581400" cy="447675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429F1-7B3E-48AF-A4C9-B23126D5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Conventional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CE4EC-0682-403E-B840-58C86B53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002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 = √(Aaxon / Aouter)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C9E84-2FA3-450D-B857-81FC260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24150"/>
            <a:ext cx="609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Everything inside the red boundary contributes to apparent sheath thickness.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68E8E-EAC5-4C6F-B8AB-675C0278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61912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2239E-4711-423C-8C41-42DF5283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052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Pathological failure mode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96037C-B972-4176-9ACB-FF2A19C5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62450"/>
            <a:ext cx="552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Yellow clefts expand the gross envelope but are not compact myelin.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25F5D-A8A5-4369-8420-E6D8A38A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Our question: how much intact sheath remains?</a:t>
            </a:r>
          </a:p>
        </p:txBody>
      </p:sp>
    </p:spTree>
    <p:extLst>
      <p:ext uri="{BB962C8B-B14F-4D97-AF65-F5344CB8AC3E}">
        <p14:creationId xmlns:p14="http://schemas.microsoft.com/office/powerpoint/2010/main" val="397525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31634B1-E497-42F7-B10F-012E13CC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We subtract disruption from the gross sheath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64A00-F6F5-490F-9955-DC103C1F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6F3D4-B29C-45F0-BC2E-878A4E55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070F9-D6FB-47E9-B5E3-655F78F5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852F1-792D-4964-8DA9-2942387C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23875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FB508-FF09-44D6-B1AD-CAF8778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Gross sheath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1BDC9-3E52-41D5-A005-40123567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Aouter − Aaxon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C15C8A-3783-471D-92FF-C3E466F4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432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9D1BA-4C44-4C69-8F4F-4E62A0CA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Intact myelin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8CD095-0161-4545-BDAC-891BBDB4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28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Agross sheath − Avacuole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0334C-BE62-4389-B1B7-10F0146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Intact-equivalent g-ratio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A1543-9002-4392-BCB0-B035DBA3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√[Aaxon / (Aouter − Avacuole)]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37CBF-9B60-4CFE-AC46-96D032B0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E9C33-D4B0-4337-9270-3F059FBA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Stable outputs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53712-0FC6-4003-A534-20E82F90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 area, vacuole burden, intact-myelin area, conventional g-ratio, and intact-equivalent g-ratio.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BF099-7709-4DF0-B404-8FE53482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72AE9F-53C0-4DB6-827D-3867516C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89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Deliberately omitted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8F098-639E-40F5-AD38-DCD1FC35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 count and mean component size: one biological cleft can fragment into several image components.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A6408-A905-4FEB-9632-1CB059BC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39D8A-EBA5-4C25-9F17-3F6BE022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8728D-2D7E-4EBA-9A34-D199F848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intact-equivalent metric is a project measure that still requires biological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7184869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BD2F278-9D35-489E-BB51-4422B15C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Five entry paths, one shared vacuole detector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D5B1B-D96A-4A5C-B060-5AF7C934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CC79C-F2D9-4C2D-8F7F-032DDEE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58D9B-5B82-4A8F-86D5-1AD2DB4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15E9-8819-436E-90C9-66B99817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E1A85-A5F9-4DEE-A9EB-BB6E2F2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679FA-376C-4DE4-8278-3BDEBCD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DBCC-DD76-47F4-938B-2CE5400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Auto whole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2803E-38B6-422B-BE57-0B24AAD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Whole image + scale
AxonDeepSeg → fibers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DEB0E-E6A6-4462-900B-3DEC5BBB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E57C1-2767-4A25-ACAC-E32E1CC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8C322-FCDC-4BF0-B714-7857C134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6BFCE-D112-451E-AD69-8E7F7105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C7D9F-D1CE-48DB-8460-DD1F007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Guided whole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02C7B-78A4-42B0-8470-EC39D54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Whole-image folder
unlimited crops → masks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61343-0031-49A4-BD3C-F066BAC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A15DA-20DB-49DA-905A-7AA7A46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5BBF2-1F40-496B-AB8E-FBD837D2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CB5D0-314F-44BC-B559-6F08EF7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84666-0889-46D0-AA5C-E74A3F4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Guided crops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E6A00-5FDC-41D1-80D3-DC5ADB6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Crop folder + scale
sequential two-mask step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69F8A-F01D-4C98-A81D-BBC3EA2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98E38-AEDB-4431-819F-76BADEED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50A29-BDE0-461A-8DE6-5B668DD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6212C-D158-4E76-B775-5461FCE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3D02C-977D-40F1-9F71-5BE3A237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One masked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D4EA4-E725-4877-BC80-B9476D3F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One crop + scale
supplied masks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DD73FF-9348-453B-9F99-F4A84057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38C46-B217-45F8-90BD-CA8B04FF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C71AC0-2255-417E-B026-697F2233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4F8C9-5556-4AC7-BE30-A71C9780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2B583-832D-4EDF-BE6F-C0958A8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Masked batch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D070D1-696C-4DB4-AE75-D4214A0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Crop/mask folders
match → validate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F1726A-C468-498A-81F5-7384A27B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9144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A6F543-343B-472E-AF61-D5E1501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91175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One wizard → five entry paths → same frozen detector</a:t>
            </a:r>
          </a:p>
        </p:txBody>
      </p:sp>
    </p:spTree>
    <p:extLst>
      <p:ext uri="{BB962C8B-B14F-4D97-AF65-F5344CB8AC3E}">
        <p14:creationId xmlns:p14="http://schemas.microsoft.com/office/powerpoint/2010/main" val="10973623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BD2F278-9D35-489E-BB51-4422B15C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Detector logic: conservative seeds, then guarded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D5B1B-D96A-4A5C-B060-5AF7C934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CC79C-F2D9-4C2D-8F7F-032DDEE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58D9B-5B82-4A8F-86D5-1AD2DB4E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B15E9-8819-436E-90C9-66B99817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E1A85-A5F9-4DEE-A9EB-BB6E2F2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F679FA-376C-4DE4-8278-3BDEBCDC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0DBCC-DD76-47F4-938B-2CE5400B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2803E-38B6-422B-BE57-0B24AAD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Sheath-only 1st–99th percentiles; CLAHE; Gaussian smoothing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DEB0E-E6A6-4462-900B-3DEC5BBB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E57C1-2767-4A25-ACAC-E32E1CC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8C322-FCDC-4BF0-B714-7857C134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6BFCE-D112-451E-AD69-8E7F7105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C7D9F-D1CE-48DB-8460-DD1F007D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02C7B-78A4-42B0-8470-EC39D54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Otsu + 0.20 strong pixels; connected weak pixels above +0.10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61343-0031-49A4-BD3C-F066BAC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A15DA-20DB-49DA-905A-7AA7A46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5BBF2-1F40-496B-AB8E-FBD837D2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CB5D0-314F-44BC-B559-6F08EF7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84666-0889-46D0-AA5C-E74A3F4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E6A00-5FDC-41D1-80D3-DC5ADB6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0.02 µm closing/opening; remove components &lt;0.01 µm²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69F8A-F01D-4C98-A81D-BBC3EA2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98E38-AEDB-4431-819F-76BADEED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50A29-BDE0-461A-8DE6-5B668DD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C6212C-D158-4E76-B775-5461FCEE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C3D02C-977D-40F1-9F71-5BE3A237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Refine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DD4EA4-E725-4877-BC80-B9476D3F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Grow a seed within 0.05 µm down to Otsu−0.05; cap at 1.5× area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DD73FF-9348-453B-9F99-F4A84057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05150"/>
            <a:ext cx="304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B8BC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B8BCC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938C46-B217-45F8-90BD-CA8B04FF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981200" cy="33909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C71AC0-2255-417E-B026-697F2233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431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4F8C9-5556-4AC7-BE30-A71C9780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00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2B583-832D-4EDF-BE6F-C0958A87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28900"/>
            <a:ext cx="163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Rescue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D070D1-696C-4DB4-AE75-D4214A0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05150"/>
            <a:ext cx="16383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Gentler branch for thin clefts; filter by thickness, position, shape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F1726A-C468-498A-81F5-7384A27B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48300"/>
            <a:ext cx="9144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A6F543-343B-472E-AF61-D5E15011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591175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Final prediction = refined main branch ∪ accepted rescue components, clipped to gross sheath</a:t>
            </a:r>
          </a:p>
        </p:txBody>
      </p:sp>
    </p:spTree>
    <p:extLst>
      <p:ext uri="{BB962C8B-B14F-4D97-AF65-F5344CB8AC3E}">
        <p14:creationId xmlns:p14="http://schemas.microsoft.com/office/powerpoint/2010/main" val="1097362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AEAF0AEF-19A4-4FD3-895F-19EB1B7B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114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benchmark is small, split by source image, and transparently limited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4D8FC-6E3B-4C59-A72D-FF704A17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8B922-E3CC-44D2-B742-94B2D16B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61115-3D70-40EE-872F-BB37E937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428F2-A3D4-4FFD-B2D3-30C16524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5DDAB-AE60-4DA9-B01F-A07700C5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7B31C-49C5-4A35-BE89-F75C1254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labeled fibers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2E205-EFA4-4461-ABB8-911DA06E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811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430EB-B99D-4417-8F65-889219B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66900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B58C3-E6C6-4134-9ABE-6B2F59CB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05CB8-F715-422F-BFB9-8CF3AC2A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333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05A74-B5B3-44ED-BDA7-80C5834A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66900"/>
            <a:ext cx="2838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AD1AF-6107-4AA2-9613-696D7C49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test (21 eligible)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387F4-7A55-4425-9DCF-5DFDA4CB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1D8C1-E570-4EDC-8FCA-3C78C90A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was tuned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358E3-6019-4365-89E6-31302A6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Detector parameters were selected on development annotations.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BDEC6-823E-4D6B-86A8-D45FD335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93A26-764B-48BB-8F27-4884FD1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90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reduces leakage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0C31D-0E6A-4FC6-9468-4DB252AD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Related crops were assigned by source image, not randomly by individual crop.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7FB3F-0D3D-4987-AAC3-5218095D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382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551B6-3D4E-4435-88A4-F5B45340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Caveat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85B7F-1923-44BD-B905-6029830B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Student annotations; some test images were inspected during iteration. Results are descriptive proof-of-concept evidence, not independent clinical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1311861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6C2F4113-90B0-4B88-BD13-5AA2CF1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78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Cropped-mask mode achieves strong precision with incomplete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95FA6-2AB2-43F2-A34A-75B05839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3B6BB-1304-45A9-9D33-EACA8C4B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6CF37-782A-4340-90AE-528D205A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533400" y="1466850"/>
          <a:ext xmlns:a="http://schemas.openxmlformats.org/drawingml/2006/main" cx="6762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43cf3a3de941d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3694D-0103-455B-ACF8-A0E27A0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81150"/>
            <a:ext cx="3829050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57F8B-AD81-4B09-B570-B3EC4F4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097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0.00628 µm²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393949-421D-46C0-B07B-9435142B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median test absolute area error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DEE39-C1FB-4F60-BDDE-D709BD1C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3829050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F2E2E-AA17-473A-B7E4-70847BE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956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20.29%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9A49C-D63B-4FFB-A805-66AE888C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median test percentage area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BE39A-8E90-4C10-A6A4-131E7131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52950"/>
            <a:ext cx="382905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18753-D549-4EA0-9D44-6C20A68F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40591-96FF-4A7C-8621-1456DC1A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05400"/>
            <a:ext cx="3276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False-positive area is relatively controlled; missed or partial vacuole area remains the larger error.</a:t>
            </a:r>
          </a:p>
        </p:txBody>
      </p:sp>
    </p:spTree>
    <p:extLst>
      <p:ext uri="{BB962C8B-B14F-4D97-AF65-F5344CB8AC3E}">
        <p14:creationId xmlns:p14="http://schemas.microsoft.com/office/powerpoint/2010/main" val="1588170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F9B7211-5565-424D-92A7-13C36C21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Qualitative review explains what the summary metrics hide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EC294-C171-44BC-B1F4-C3330DCE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FF784-4F6D-4ED4-93B7-DF6C116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6D008-3B07-4A2C-8291-C33DC8FF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FFBC2-548E-46DB-A841-30F0B40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1125200" cy="2171700"/>
          </a:xfrm>
          <a:prstGeom xmlns:a="http://schemas.openxmlformats.org/drawingml/2006/main" prst="roundRect">
            <a:avLst>
              <a:gd name="adj" fmla="val 438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6a310900d499c"/>
          <a:stretch xmlns:a="http://schemas.openxmlformats.org/drawingml/2006/main"/>
        </p:blipFill>
        <p:spPr>
          <a:xfrm xmlns:a="http://schemas.openxmlformats.org/drawingml/2006/main">
            <a:off x="3184223" y="1409700"/>
            <a:ext cx="5823553" cy="2171700"/>
          </a:xfrm>
          <a:prstGeom xmlns:a="http://schemas.openxmlformats.org/drawingml/2006/main" prst="roundRect">
            <a:avLst>
              <a:gd name="adj" fmla="val 43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882F-8FEF-4B19-A7DA-6FE22C44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Good localization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1791B-E924-4F8E-9D9B-52BBA0E1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576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The cropped detector recovers the main annotated vacuole but not every thin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2A0A4-96FF-41B4-B9E3-ABAA808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11125200" cy="16764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3cb5238914a66"/>
          <a:stretch xmlns:a="http://schemas.openxmlformats.org/drawingml/2006/main"/>
        </p:blipFill>
        <p:spPr>
          <a:xfrm xmlns:a="http://schemas.openxmlformats.org/drawingml/2006/main">
            <a:off x="3848313" y="4114800"/>
            <a:ext cx="4495374" cy="1676400"/>
          </a:xfrm>
          <a:prstGeom xmlns:a="http://schemas.openxmlformats.org/drawingml/2006/main" prst="roundRect">
            <a:avLst>
              <a:gd name="adj" fmla="val 56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CE69F-334C-461A-9099-CFDC6BB9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Hard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ECE90-0994-4179-97DF-341A75AF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293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Long low-contrast lamellar clefts remain partial; permissive growth risks labeling intact sheath.</a:t>
            </a:r>
          </a:p>
        </p:txBody>
      </p:sp>
    </p:spTree>
    <p:extLst>
      <p:ext uri="{BB962C8B-B14F-4D97-AF65-F5344CB8AC3E}">
        <p14:creationId xmlns:p14="http://schemas.microsoft.com/office/powerpoint/2010/main" val="1971437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4EA53D19-8D55-4E3E-BAAA-97764B8C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Whole-image mode fails before vacuole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F5DB1-0A8E-4EAC-86A9-E60237EA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99D1F-1214-4F54-BE3A-23B02CE6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F246D-040A-4BAE-AD2E-0CD4A4E4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VACUOLE-AWARE MYELIN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1FE04-1E28-4031-BE7E-03D3AA65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6191250" cy="4133850"/>
          </a:xfrm>
          <a:prstGeom xmlns:a="http://schemas.openxmlformats.org/drawingml/2006/main" prst="roundRect">
            <a:avLst>
              <a:gd name="adj" fmla="val 230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750a2a152459d"/>
          <a:stretch xmlns:a="http://schemas.openxmlformats.org/drawingml/2006/main"/>
        </p:blipFill>
        <p:spPr>
          <a:xfrm xmlns:a="http://schemas.openxmlformats.org/drawingml/2006/main">
            <a:off x="533400" y="2197894"/>
            <a:ext cx="6191250" cy="2786063"/>
          </a:xfrm>
          <a:prstGeom xmlns:a="http://schemas.openxmlformats.org/drawingml/2006/main" prst="roundRect">
            <a:avLst>
              <a:gd name="adj" fmla="val 230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07910-17AC-48A3-A79C-76D4DCA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243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1A230-D533-4784-9D74-CCEDF636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25 / 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AFA1A-CAFB-4E39-A733-25B505A4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target fibers recovered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BEF57-C99B-4837-A296-13102674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43243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5B36F0-8111-4C41-B404-C3B87DD8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051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15 / 43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4257B-7D74-4CF2-BF58-6AF9705B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040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both automatic masks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DDB12-A141-4C84-ADD3-574F30BD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286250"/>
            <a:ext cx="43243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4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FF6398-2133-4F61-B8B1-4B9F5383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577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EE35E-A62F-47AA-A3C3-9FD6B1FA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529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complete target misses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E0B85-B981-447E-88EF-89061A24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34050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64545"/>
                </a:solidFill>
                <a:latin typeface="Arial"/>
                <a:ea typeface="Arial"/>
                <a:cs typeface="Arial"/>
              </a:rPr>
              <a:t>End-to-end median vacuole Dice: 0.000</a:t>
            </a:r>
          </a:p>
        </p:txBody>
      </p:sp>
    </p:spTree>
    <p:extLst>
      <p:ext uri="{BB962C8B-B14F-4D97-AF65-F5344CB8AC3E}">
        <p14:creationId xmlns:p14="http://schemas.microsoft.com/office/powerpoint/2010/main" val="1749481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77B5ED-3FAA-4554-A651-5EF6B70C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 i="0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F4D78"/>
                </a:solidFill>
                <a:latin typeface="Arial"/>
                <a:ea typeface="Arial"/>
                <a:cs typeface="Arial"/>
              </a:rPr>
              <a:t>A useful proof of concept—with a clear validation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CD5DB-0304-4395-BF35-1FBC0FB77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18160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FEAE6-3A6A-4DB2-9A7A-E17C7732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we can claim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7BEE2-199B-4A88-9A02-FF3766AC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631DD-3AB4-4A36-926C-BE723DBE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Cropped-mask feasibility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E414E-A898-4F08-8007-62BB9FE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24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Median test Dice 0.752 and precision 0.930.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4B275-948B-44FE-832E-2F535F23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76C78-9A2A-4B9D-8A5F-A0EDC486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Interpretable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65C6D-0AAC-4F53-8D2A-26BCE17F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24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Predictions follow explicit intensity, connectivity, morphology, and context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41052F-2403-484A-AA2F-A60375DE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9018E-837F-426A-8DC9-D05337E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Portable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71D53C-02E9-42BC-9A67-8F6BF76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424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One launcher, five entry paths, frozen configuration, saved progress, and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06397-9966-4EB8-B2AB-124DFBC8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5181600" cy="3714750"/>
          </a:xfrm>
          <a:prstGeom xmlns:a="http://schemas.openxmlformats.org/drawingml/2006/main" prst="roundRect">
            <a:avLst>
              <a:gd name="adj" fmla="val 359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60188-63BD-4952-AB9D-6F205A06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E6EB2B-CABC-423E-94E5-F49C25B6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0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80295-B1B1-4477-8D16-E5A70767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Expert ground truth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BCF41-6785-4A04-828C-6DF370A6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47950"/>
            <a:ext cx="424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Blinded multi-rater labels and inter-rater agreement.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27129-5A87-4407-8EC6-04B4A16B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6937F-B96A-4402-A097-40BCA37F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766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Independent test 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BCFA7-BE16-469C-B14E-21AE4857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424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Hold out animals and source images before further tuning.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C3734-6A50-4B31-A791-A5251982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C6CF4-603A-45E1-BA28-49511D7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291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Local front-end 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04A87-353E-45EF-88BB-DB583C1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52950"/>
            <a:ext cx="4248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Fine-tune axon/outer segmentation before claiming whole-image automation.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85A6A-D9FB-4945-9C6D-40A7900D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E4A73-A201-4700-99CE-EF05723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Planned talk: ~10–11 min  ·  Q&amp;A: 3–5 min</a:t>
            </a:r>
          </a:p>
        </p:txBody>
      </p:sp>
    </p:spTree>
    <p:extLst>
      <p:ext uri="{BB962C8B-B14F-4D97-AF65-F5344CB8AC3E}">
        <p14:creationId xmlns:p14="http://schemas.microsoft.com/office/powerpoint/2010/main" val="132285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2026-08-31T13:13:36.3170000Z</dcterms:created>
  <dcterms:modified xsi:type="dcterms:W3CDTF">2026-08-31T13:13:36.3170000Z</dcterms:modified>
</coreProperties>
</file>